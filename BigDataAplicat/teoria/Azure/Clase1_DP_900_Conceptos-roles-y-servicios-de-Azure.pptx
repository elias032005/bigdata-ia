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erif Devanagari"/>
      <p:regular r:id="rId201316"/>
    </p:embeddedFont>
    <p:embeddedFont>
      <p:font typeface="Noto Serif Devanagari Bold"/>
      <p:regular r:id="rId201317"/>
    </p:embeddedFont>
    <p:embeddedFont>
      <p:font typeface="Noto Serif Devanagari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2467967"/>
            <a:ext cx="10718532" cy="162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800" spc="-29" kern="100" dirty="0">
                <a:solidFill>
                  <a:srgbClr val="000000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Conceptos, roles</a:t>
            </a:r>
            <a:endParaRPr lang="en-US" sz="5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800" spc="-29" kern="100" dirty="0">
                <a:solidFill>
                  <a:srgbClr val="000000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y servicios de Azure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36582" y="4304308"/>
            <a:ext cx="7181373" cy="3810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Los datos están en todas partes y valen si se analizan bien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3454314" cy="388560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970907"/>
            <a:ext cx="299712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Sistemas, aplicaciones y dispositivos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179" y="3817838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El volumen de datos ha crecido enormemente.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68691" y="1727795"/>
            <a:ext cx="3454314" cy="3885605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2970907"/>
            <a:ext cx="299712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Capturar, almacenar y analizar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97285" y="3817838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Un requisito básico de toda organización.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727795"/>
            <a:ext cx="3454314" cy="388560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10" name="Text 8"/>
          <p:cNvSpPr/>
          <p:nvPr/>
        </p:nvSpPr>
        <p:spPr>
          <a:xfrm>
            <a:off x="8356391" y="2970907"/>
            <a:ext cx="299712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Decisiones empresariales críticas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56391" y="3817838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Los datos las sostienen cuando se analizan bien.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Tres formatos de datos: estructurados, semiestructurados y no estructurados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3454314" cy="16954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56395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Estructurados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38179" y="236597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Esquema fijo en tablas, con filas y columnas.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68691" y="1727795"/>
            <a:ext cx="3454314" cy="169545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1956395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Semiestructurados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97285" y="236597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Cierta estructura con variación entre instancias, como JSON.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727795"/>
            <a:ext cx="3454314" cy="1695450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0" name="Text 8"/>
          <p:cNvSpPr/>
          <p:nvPr/>
        </p:nvSpPr>
        <p:spPr>
          <a:xfrm>
            <a:off x="8356391" y="1956395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No estructurados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356391" y="2365970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Documentos, imágenes, audio y vídeo; también datos vectoriales para IA.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804245"/>
            <a:ext cx="4876678" cy="1580555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3804245"/>
            <a:ext cx="4876678" cy="158055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Los archivos se eligen según el dato y su uso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481435"/>
            <a:ext cx="2997125" cy="2788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179" y="4422775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CSV, JSON y XML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38179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Texto delimitado (CSV), JSON y XML: legibles para las personas.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481435"/>
            <a:ext cx="2997125" cy="2788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7285" y="4422775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BLOB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597285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Binarios para imágenes, vídeo y audio.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481435"/>
            <a:ext cx="2997125" cy="19602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6391" y="3594100"/>
            <a:ext cx="299712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Parquet, Avro y Delta Lake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356391" y="4003675"/>
            <a:ext cx="29971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Parquet (columnar), Avro (por filas) y Delta Lake (Parquet con registro de transacciones): optimizados para procesar y almacenar.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Bases de datos: relacionales y no relacionales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252835"/>
            <a:ext cx="5333867" cy="149344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48143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Relacionales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179" y="1965226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Tablas con claves principales, normalizadas y consultadas con SQL.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8244" y="1252835"/>
            <a:ext cx="5333867" cy="1493441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48143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No relacionales (NoSQL)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76838" y="1965226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Clave-valor, documentos, familia de columnas y grafos.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127276"/>
            <a:ext cx="1615439" cy="225752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104" y="3127276"/>
            <a:ext cx="1615439" cy="22575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29" y="3127276"/>
            <a:ext cx="1615538" cy="225752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053" y="3127276"/>
            <a:ext cx="1615439" cy="2257524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977" y="3127276"/>
            <a:ext cx="1615538" cy="225752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OLTP registra transacciones con garantías ACID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5283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Sistemas de gran volumen con lectura y escritura rápidas (operaciones CRUD).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1681460"/>
            <a:ext cx="2743131" cy="746125"/>
          </a:xfrm>
          <a:custGeom>
            <a:avLst/>
            <a:gdLst/>
            <a:ahLst/>
            <a:cxnLst/>
            <a:rect l="l" t="t" r="r" b="b"/>
            <a:pathLst>
              <a:path w="2743131" h="746125">
                <a:moveTo>
                  <a:pt x="9525" y="0"/>
                </a:moveTo>
                <a:lnTo>
                  <a:pt x="2743131" y="0"/>
                </a:lnTo>
                <a:lnTo>
                  <a:pt x="2743131" y="746125"/>
                </a:lnTo>
                <a:lnTo>
                  <a:pt x="9525" y="746125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910060"/>
            <a:ext cx="228594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Atomicidad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3352716" y="1681460"/>
            <a:ext cx="2743131" cy="746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7" name="Text 5"/>
          <p:cNvSpPr/>
          <p:nvPr/>
        </p:nvSpPr>
        <p:spPr>
          <a:xfrm>
            <a:off x="3581310" y="1910060"/>
            <a:ext cx="228594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Coherencia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095848" y="1681460"/>
            <a:ext cx="2743131" cy="746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1910060"/>
            <a:ext cx="228594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Aislamiento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838979" y="1681460"/>
            <a:ext cx="2743131" cy="746125"/>
          </a:xfrm>
          <a:custGeom>
            <a:avLst/>
            <a:gdLst/>
            <a:ahLst/>
            <a:cxnLst/>
            <a:rect l="l" t="t" r="r" b="b"/>
            <a:pathLst>
              <a:path w="2743131" h="746125">
                <a:moveTo>
                  <a:pt x="0" y="0"/>
                </a:moveTo>
                <a:lnTo>
                  <a:pt x="2733607" y="0"/>
                </a:lnTo>
                <a:arcTo hR="9525" wR="9525" stAng="16200000" swAng="5400000"/>
                <a:lnTo>
                  <a:pt x="2743131" y="736600"/>
                </a:lnTo>
                <a:arcTo hR="9525" wR="9525" stAng="0" swAng="5400000"/>
                <a:lnTo>
                  <a:pt x="0" y="746125"/>
                </a:lnTo>
                <a:lnTo>
                  <a:pt x="0" y="0"/>
                </a:lnTo>
                <a:close/>
              </a:path>
            </a:pathLst>
          </a:custGeom>
          <a:solidFill>
            <a:srgbClr val="E6EEFB"/>
          </a:solidFill>
          <a:ln/>
        </p:spPr>
      </p:sp>
      <p:sp>
        <p:nvSpPr>
          <p:cNvPr id="11" name="Text 9"/>
          <p:cNvSpPr/>
          <p:nvPr/>
        </p:nvSpPr>
        <p:spPr>
          <a:xfrm>
            <a:off x="9067573" y="1910060"/>
            <a:ext cx="228594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Durabilidad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808585"/>
            <a:ext cx="3124122" cy="768945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2808585"/>
            <a:ext cx="3047924" cy="76894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2808585"/>
            <a:ext cx="3124122" cy="768945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187130"/>
            <a:ext cx="3124122" cy="769045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4187130"/>
            <a:ext cx="3047924" cy="76904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4187130"/>
            <a:ext cx="3124122" cy="76904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9585" y="533717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Una transferencia bancaria debita una cuenta y acredita otra como una sola operación.</a:t>
            </a:r>
            <a:endParaRPr lang="en-US" sz="1500" dirty="0"/>
          </a:p>
        </p:txBody>
      </p:sp>
      <p:sp>
        <p:nvSpPr>
          <p:cNvPr id="19" name="Shape 1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3346366" y="1681460"/>
            <a:ext cx="12700" cy="746125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2" name="Shape 14"/>
          <p:cNvSpPr/>
          <p:nvPr/>
        </p:nvSpPr>
        <p:spPr>
          <a:xfrm>
            <a:off x="6089498" y="1681460"/>
            <a:ext cx="12700" cy="746125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3" name="Shape 15"/>
          <p:cNvSpPr/>
          <p:nvPr/>
        </p:nvSpPr>
        <p:spPr>
          <a:xfrm>
            <a:off x="8832629" y="1681460"/>
            <a:ext cx="12700" cy="746125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El procesamiento analítico convierte datos históricos en informes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2779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ETL o ELT lleva los datos operativos a un lago de datos o almacenamiento de datos.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81820"/>
            <a:ext cx="10972526" cy="22695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4603750"/>
            <a:ext cx="5333867" cy="10096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483235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Lago de datos, almacenamiento de datos y lakehouse, que combina ambos.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48244" y="4603750"/>
            <a:ext cx="5333867" cy="1009650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8" name="Text 5"/>
          <p:cNvSpPr/>
          <p:nvPr/>
        </p:nvSpPr>
        <p:spPr>
          <a:xfrm>
            <a:off x="6476838" y="483235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Modelo OLAP o semántico con medidas y dimensiones para informes y paneles.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La arquitectura medallón mejora la calidad capa a capa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59520"/>
            <a:ext cx="10972526" cy="24080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85" y="4119959"/>
            <a:ext cx="3454314" cy="1493441"/>
          </a:xfrm>
          <a:prstGeom prst="rect">
            <a:avLst/>
          </a:prstGeom>
          <a:solidFill>
            <a:srgbClr val="FDE6DE"/>
          </a:solidFill>
          <a:ln/>
        </p:spPr>
      </p:sp>
      <p:sp>
        <p:nvSpPr>
          <p:cNvPr id="5" name="Text 2"/>
          <p:cNvSpPr/>
          <p:nvPr/>
        </p:nvSpPr>
        <p:spPr>
          <a:xfrm>
            <a:off x="838179" y="43485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Bronze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8179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Datos sin procesar tal como llegan del origen.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68691" y="4119959"/>
            <a:ext cx="3454314" cy="149344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8" name="Text 5"/>
          <p:cNvSpPr/>
          <p:nvPr/>
        </p:nvSpPr>
        <p:spPr>
          <a:xfrm>
            <a:off x="4597285" y="43485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Silver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97285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Datos limpios, sin duplicados y con tipos estandarizados.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127797" y="4119959"/>
            <a:ext cx="3454314" cy="1493441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11" name="Text 8"/>
          <p:cNvSpPr/>
          <p:nvPr/>
        </p:nvSpPr>
        <p:spPr>
          <a:xfrm>
            <a:off x="8356391" y="43485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Gold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56391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Datos agregados y listos para informes y análisis.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Cuatro roles clave trabajan con los datos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252835"/>
            <a:ext cx="5333867" cy="181352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48143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Administrador de bases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179" y="1965226"/>
            <a:ext cx="51052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Disponibilidad, seguridad y copias de seguridad.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8244" y="1252835"/>
            <a:ext cx="5333867" cy="181352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48143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Ingeniero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76838" y="1965226"/>
            <a:ext cx="51052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Integración, limpieza y canalizaciones.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3371155"/>
            <a:ext cx="5333867" cy="1813620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359975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Analista de datos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179" y="4083546"/>
            <a:ext cx="51052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Exploración, visualizaciones e informes.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48244" y="3371155"/>
            <a:ext cx="5333867" cy="1813620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3599755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Ingeniero de 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76838" y="4083546"/>
            <a:ext cx="51052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Funciones con LLM y aprendizaje automático.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585" y="533717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Una misma persona puede desempeñar varios roles.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Cada rol aprovecha la IA sin perder su criterio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481435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Administradores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965226"/>
            <a:ext cx="53338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Diagnostican rendimiento y redactan consultas en lenguaje natural.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48244" y="1481435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Ingenieros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48244" y="1965226"/>
            <a:ext cx="5333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Generan código de transformación y configuraciones.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3585468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Analistas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4069259"/>
            <a:ext cx="548626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Resumen informes y sugieren visualizaciones.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48" y="3433068"/>
            <a:ext cx="5486263" cy="2180332"/>
          </a:xfrm>
          <a:custGeom>
            <a:avLst/>
            <a:gdLst/>
            <a:ahLst/>
            <a:cxnLst/>
            <a:rect l="l" t="t" r="r" b="b"/>
            <a:pathLst>
              <a:path w="5486263" h="2180332">
                <a:moveTo>
                  <a:pt x="0" y="0"/>
                </a:moveTo>
                <a:lnTo>
                  <a:pt x="5486263" y="0"/>
                </a:lnTo>
                <a:lnTo>
                  <a:pt x="5486263" y="2170807"/>
                </a:lnTo>
                <a:arcTo hR="9525" wR="9525" stAng="0" swAng="5400000"/>
                <a:lnTo>
                  <a:pt x="0" y="2180332"/>
                </a:lnTo>
                <a:lnTo>
                  <a:pt x="0" y="0"/>
                </a:lnTo>
                <a:close/>
              </a:path>
            </a:pathLst>
          </a:custGeom>
          <a:solidFill>
            <a:srgbClr val="FFF1CC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2" y="3661668"/>
            <a:ext cx="502907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Ingenieros de IA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24442" y="4145459"/>
            <a:ext cx="502907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Diseño, evaluación y uso responsable siguen siendo humanos.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498" y="1252835"/>
            <a:ext cx="12700" cy="2180233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3426718"/>
            <a:ext cx="5486263" cy="127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498" y="3433068"/>
            <a:ext cx="12700" cy="2180332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426718"/>
            <a:ext cx="5486263" cy="12700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Bases de datos transaccionales: Azure SQL, MySQL y PostgreSQL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56395"/>
            <a:ext cx="4800480" cy="18111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179" y="3919934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SQL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8179" y="4403725"/>
            <a:ext cx="4800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SQL Database (PaaS), SQL Managed Instance y SQL en máquina virtual: de menos a más control.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1956395"/>
            <a:ext cx="4800480" cy="18111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3036" y="3919934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MySQL y PostgreSQL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53036" y="4403725"/>
            <a:ext cx="4800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Database for MySQL y for PostgreSQL: servicios administrados de código abierto.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9585" y="533717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Los administradores las gestionan; los ingenieros las usan como origen de canalizaciones.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Cosmos DB y Azure Storage guardan datos a escala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56395"/>
            <a:ext cx="4800480" cy="15063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179" y="3615134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Cosmos DB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8179" y="4098925"/>
            <a:ext cx="4800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NoSQL global con documentos JSON, clave-valor, columnas y grafos.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1956395"/>
            <a:ext cx="4800480" cy="17825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3036" y="3891359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Storage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53036" y="4375150"/>
            <a:ext cx="502907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Blobs, recursos compartidos de archivos y tablas.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09585" y="5032375"/>
            <a:ext cx="10972526" cy="5810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0" name="Text 6"/>
          <p:cNvSpPr/>
          <p:nvPr/>
        </p:nvSpPr>
        <p:spPr>
          <a:xfrm>
            <a:off x="838179" y="5184775"/>
            <a:ext cx="1074393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Los ingenieros de datos hospedan lagos de datos en blobs con espacio de nombres jerárquico.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Mover y transformar datos: Data Factory, Stream Analytics y Data Explorer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56395"/>
            <a:ext cx="2997125" cy="22651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179" y="43485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Data Factory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8179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Canalizaciones ETL programadas.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956395"/>
            <a:ext cx="2997125" cy="1902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7285" y="3985419"/>
            <a:ext cx="299712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Stream Analytics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597285" y="483235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Procesamiento de flujos en tiempo real.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956395"/>
            <a:ext cx="2997125" cy="19889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6391" y="4072334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Data Explorer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56391" y="4556125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Consultas rápidas sobre registros y telemetría con marca de tiempo.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Fabric y Databricks unifican el análisis en una plataforma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5333867" cy="14192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56395"/>
            <a:ext cx="48766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Microsoft Fabric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38179" y="236597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Plataforma SaaS con ingeniería, almacenamiento, tiempo real y Power BI sobre OneLake.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8244" y="1727795"/>
            <a:ext cx="5333867" cy="1419225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956395"/>
            <a:ext cx="48766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Azure Databricks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476838" y="236597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Ingeniería y ciencia de datos a gran escala con Spark y Delta Lake.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528020"/>
            <a:ext cx="1615439" cy="142815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104" y="3528020"/>
            <a:ext cx="1615439" cy="142815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29" y="3528020"/>
            <a:ext cx="1615538" cy="142815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053" y="3528020"/>
            <a:ext cx="1615439" cy="142815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977" y="3528020"/>
            <a:ext cx="1615538" cy="14281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585" y="533717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Power BI ofrece informes y paneles interactivos para los analistas.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6" name="Text 9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Purview gobierna los datos y Foundry construye la IA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753195"/>
            <a:ext cx="4800480" cy="27191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179" y="4624784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Microsoft Purview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8179" y="5108575"/>
            <a:ext cx="502907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Mapa de datos, linaje y gobernanza entre orígenes.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1753195"/>
            <a:ext cx="4800480" cy="24429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3036" y="4348559"/>
            <a:ext cx="48004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Microsoft Foundry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53036" y="4832350"/>
            <a:ext cx="4800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Plataforma PaaS para diseñar, probar e implementar soluciones de IA.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17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Qué rol usa qué servicio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64767"/>
          <a:ext cx="10972526" cy="914400"/>
        </p:xfrm>
        <a:graphic>
          <a:graphicData uri="http://schemas.openxmlformats.org/drawingml/2006/table">
            <a:tbl>
              <a:tblPr/>
              <a:tblGrid>
                <a:gridCol w="3511165"/>
                <a:gridCol w="7461361"/>
              </a:tblGrid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Rol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Servicios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Administrador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Azure SQL, MySQL, PostgreSQL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Ingeniero de datos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Data Factory, Storage, Fabric, Databricks, Purview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Analista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Power BI, Data Explorer, Databricks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Ingeniero de IA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Microsoft Foundry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2026-10-17T17:23:59Z</dcterms:created>
  <dcterms:modified xsi:type="dcterms:W3CDTF">2026-10-17T17:23:59Z</dcterms:modified>
</cp:coreProperties>
</file>