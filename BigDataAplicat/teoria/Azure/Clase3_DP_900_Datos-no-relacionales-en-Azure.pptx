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1695" cy="6858000"/>
  <p:notesSz cx="6858000" cy="12191695"/>
  <p:embeddedFontLst>
    <p:embeddedFont>
      <p:font typeface="Aleo Bold"/>
      <p:regular r:id="rId201314"/>
    </p:embeddedFont>
    <p:embeddedFont>
      <p:font typeface="Lexend Deca"/>
      <p:regular r:id="rId201315"/>
    </p:embeddedFont>
    <p:embeddedFont>
      <p:font typeface="Lexend Deca Medium"/>
      <p:regular r:id="rId201316"/>
    </p:embeddedFont>
    <p:embeddedFont>
      <p:font typeface="Lexend Deca Bold"/>
      <p:regular r:id="rId201317"/>
    </p:embeddedFont>
    <p:embeddedFont>
      <p:font typeface="Ubuntu Mono"/>
      <p:regular r:id="rId201318"/>
    </p:embeddedFont>
    <p:embeddedFont>
      <p:font typeface="Ubuntu Mono Bold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4F6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E8C"/>
          </a:solidFill>
          <a:ln/>
        </p:spPr>
      </p:sp>
      <p:sp>
        <p:nvSpPr>
          <p:cNvPr id="3" name="Text 1"/>
          <p:cNvSpPr/>
          <p:nvPr/>
        </p:nvSpPr>
        <p:spPr>
          <a:xfrm>
            <a:off x="711182" y="2474932"/>
            <a:ext cx="10769331" cy="178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6400" b="1" spc="-128" kern="100" dirty="0">
                <a:solidFill>
                  <a:srgbClr val="FFFFFF"/>
                </a:solidFill>
                <a:latin typeface="Aleo Bold" pitchFamily="34" charset="0"/>
                <a:ea typeface="Aleo Bold" pitchFamily="34" charset="-122"/>
                <a:cs typeface="Aleo Bold" pitchFamily="34" charset="-120"/>
              </a:rPr>
              <a:t>Datos no relacionales</a:t>
            </a:r>
            <a:endParaRPr lang="en-US" sz="640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6400" b="1" spc="-128" kern="100" dirty="0">
                <a:solidFill>
                  <a:srgbClr val="FFFFFF"/>
                </a:solidFill>
                <a:latin typeface="Aleo Bold" pitchFamily="34" charset="0"/>
                <a:ea typeface="Aleo Bold" pitchFamily="34" charset="-122"/>
                <a:cs typeface="Aleo Bold" pitchFamily="34" charset="-120"/>
              </a:rPr>
              <a:t>en Azure</a:t>
            </a:r>
            <a:endParaRPr lang="en-US" sz="6400" dirty="0"/>
          </a:p>
        </p:txBody>
      </p:sp>
      <p:sp>
        <p:nvSpPr>
          <p:cNvPr id="4" name="Shape 2"/>
          <p:cNvSpPr/>
          <p:nvPr/>
        </p:nvSpPr>
        <p:spPr>
          <a:xfrm>
            <a:off x="711182" y="6027738"/>
            <a:ext cx="10769331" cy="69751"/>
          </a:xfrm>
          <a:prstGeom prst="roundRect">
            <a:avLst>
              <a:gd name="adj" fmla="val 49999"/>
            </a:avLst>
          </a:prstGeom>
          <a:solidFill>
            <a:srgbClr val="F2A01C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4F6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1030"/>
            <a:ext cx="10972526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b="1" spc="-45" kern="100" dirty="0">
                <a:solidFill>
                  <a:srgbClr val="1B2910"/>
                </a:solidFill>
                <a:latin typeface="Aleo Bold" pitchFamily="34" charset="0"/>
                <a:ea typeface="Aleo Bold" pitchFamily="34" charset="-122"/>
                <a:cs typeface="Aleo Bold" pitchFamily="34" charset="-120"/>
              </a:rPr>
              <a:t>No todas las aplicaciones necesitan una base de datos relacional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09585" y="2621955"/>
            <a:ext cx="5257668" cy="76200"/>
          </a:xfrm>
          <a:prstGeom prst="rect">
            <a:avLst/>
          </a:prstGeom>
          <a:solidFill>
            <a:srgbClr val="1F3E8C"/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3015020"/>
            <a:ext cx="5257668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dirty="0">
                <a:solidFill>
                  <a:srgbClr val="1B2910"/>
                </a:solidFill>
                <a:latin typeface="Lexend Deca Medium" pitchFamily="34" charset="0"/>
                <a:ea typeface="Lexend Deca Medium" pitchFamily="34" charset="-122"/>
                <a:cs typeface="Lexend Deca Medium" pitchFamily="34" charset="-120"/>
              </a:rPr>
              <a:t>Relacional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09585" y="3467715"/>
            <a:ext cx="5257668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1B291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Organiza los datos en tablas relacionadas y usa SQL.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24442" y="2621955"/>
            <a:ext cx="5257668" cy="76200"/>
          </a:xfrm>
          <a:prstGeom prst="rect">
            <a:avLst/>
          </a:prstGeom>
          <a:solidFill>
            <a:srgbClr val="F2A01C"/>
          </a:solidFill>
          <a:ln/>
        </p:spPr>
      </p:sp>
      <p:sp>
        <p:nvSpPr>
          <p:cNvPr id="7" name="Text 5"/>
          <p:cNvSpPr/>
          <p:nvPr/>
        </p:nvSpPr>
        <p:spPr>
          <a:xfrm>
            <a:off x="6324442" y="3015020"/>
            <a:ext cx="5257668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dirty="0">
                <a:solidFill>
                  <a:srgbClr val="1B2910"/>
                </a:solidFill>
                <a:latin typeface="Lexend Deca Medium" pitchFamily="34" charset="0"/>
                <a:ea typeface="Lexend Deca Medium" pitchFamily="34" charset="-122"/>
                <a:cs typeface="Lexend Deca Medium" pitchFamily="34" charset="-120"/>
              </a:rPr>
              <a:t>No relacional (NoSQL)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324442" y="3467715"/>
            <a:ext cx="5257668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1B291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Muchas aplicaciones no necesitan esa estructura rígida.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09585" y="5525790"/>
            <a:ext cx="1370077" cy="254000"/>
          </a:xfrm>
          <a:prstGeom prst="roundRect">
            <a:avLst>
              <a:gd name="adj" fmla="val 49999"/>
            </a:avLst>
          </a:prstGeom>
          <a:solidFill>
            <a:srgbClr val="1F3E8C"/>
          </a:solidFill>
          <a:ln/>
        </p:spPr>
      </p:sp>
      <p:sp>
        <p:nvSpPr>
          <p:cNvPr id="10" name="Text 8"/>
          <p:cNvSpPr/>
          <p:nvPr/>
        </p:nvSpPr>
        <p:spPr>
          <a:xfrm>
            <a:off x="736582" y="5575040"/>
            <a:ext cx="1725669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300" spc="26" kern="100" dirty="0">
                <a:solidFill>
                  <a:srgbClr val="FFFFFF"/>
                </a:solidFill>
                <a:latin typeface="Ubuntu Mono" pitchFamily="34" charset="0"/>
                <a:ea typeface="Ubuntu Mono" pitchFamily="34" charset="-122"/>
                <a:cs typeface="Ubuntu Mono" pitchFamily="34" charset="-120"/>
              </a:rPr>
              <a:t>Azure Storage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081260" y="5525790"/>
            <a:ext cx="1713465" cy="254000"/>
          </a:xfrm>
          <a:prstGeom prst="roundRect">
            <a:avLst>
              <a:gd name="adj" fmla="val 49999"/>
            </a:avLst>
          </a:prstGeom>
          <a:solidFill>
            <a:srgbClr val="F2A01C"/>
          </a:solidFill>
          <a:ln/>
        </p:spPr>
      </p:sp>
      <p:sp>
        <p:nvSpPr>
          <p:cNvPr id="12" name="Text 10"/>
          <p:cNvSpPr/>
          <p:nvPr/>
        </p:nvSpPr>
        <p:spPr>
          <a:xfrm>
            <a:off x="2208256" y="5575040"/>
            <a:ext cx="2069056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300" spc="26" kern="100" dirty="0">
                <a:solidFill>
                  <a:srgbClr val="000000"/>
                </a:solidFill>
                <a:latin typeface="Ubuntu Mono" pitchFamily="34" charset="0"/>
                <a:ea typeface="Ubuntu Mono" pitchFamily="34" charset="-122"/>
                <a:cs typeface="Ubuntu Mono" pitchFamily="34" charset="-120"/>
              </a:rPr>
              <a:t>Microsoft OneLake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896322" y="5525790"/>
            <a:ext cx="1541821" cy="254000"/>
          </a:xfrm>
          <a:prstGeom prst="roundRect">
            <a:avLst>
              <a:gd name="adj" fmla="val 49999"/>
            </a:avLst>
          </a:prstGeom>
          <a:solidFill>
            <a:srgbClr val="7A2C6C"/>
          </a:solidFill>
          <a:ln/>
        </p:spPr>
      </p:sp>
      <p:sp>
        <p:nvSpPr>
          <p:cNvPr id="14" name="Text 12"/>
          <p:cNvSpPr/>
          <p:nvPr/>
        </p:nvSpPr>
        <p:spPr>
          <a:xfrm>
            <a:off x="4023319" y="5575040"/>
            <a:ext cx="1897412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300" spc="26" kern="100" dirty="0">
                <a:solidFill>
                  <a:srgbClr val="FFFFFF"/>
                </a:solidFill>
                <a:latin typeface="Ubuntu Mono" pitchFamily="34" charset="0"/>
                <a:ea typeface="Ubuntu Mono" pitchFamily="34" charset="-122"/>
                <a:cs typeface="Ubuntu Mono" pitchFamily="34" charset="-120"/>
              </a:rPr>
              <a:t>Azure Cosmos DB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09585" y="5969020"/>
            <a:ext cx="11582110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1B291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Opciones de almacenamiento en la nube.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4F6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70230"/>
            <a:ext cx="10972526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b="1" spc="-45" kern="100" dirty="0">
                <a:solidFill>
                  <a:srgbClr val="1B2910"/>
                </a:solidFill>
                <a:latin typeface="Aleo Bold" pitchFamily="34" charset="0"/>
                <a:ea typeface="Aleo Bold" pitchFamily="34" charset="-122"/>
                <a:cs typeface="Aleo Bold" pitchFamily="34" charset="-120"/>
              </a:rPr>
              <a:t>Azure Blob Storage guarda datos no estructurados como blobs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09585" y="2522339"/>
            <a:ext cx="5257668" cy="2428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1B291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Grandes cantidades de datos no estructurados como objetos binarios grandes.</a:t>
            </a:r>
            <a:endParaRPr lang="en-US" sz="1600" dirty="0"/>
          </a:p>
          <a:p>
            <a:pPr algn="l" marL="325120" indent="-325120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1B291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Los contenedores agrupan blobs relacionados y controlan permisos de lectura y escritura.</a:t>
            </a:r>
            <a:endParaRPr lang="en-US" sz="1600" dirty="0"/>
          </a:p>
          <a:p>
            <a:pPr algn="l" marL="325120" indent="-325120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1B291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Microsoft Entra ID con RBAC es el inicio de sesión recomendado.</a:t>
            </a:r>
            <a:endParaRPr lang="en-US" sz="1600" dirty="0"/>
          </a:p>
          <a:p>
            <a:pPr algn="l" marL="325120" indent="-325120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1B291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Carpetas virtuales mediante “/” en el nombre, sin operaciones a nivel de carpeta.</a:t>
            </a:r>
            <a:endParaRPr lang="en-US" sz="1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53036" y="1402060"/>
            <a:ext cx="4800480" cy="46685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4F6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70230"/>
            <a:ext cx="10972526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b="1" spc="-45" kern="100" dirty="0">
                <a:solidFill>
                  <a:srgbClr val="1B2910"/>
                </a:solidFill>
                <a:latin typeface="Aleo Bold" pitchFamily="34" charset="0"/>
                <a:ea typeface="Aleo Bold" pitchFamily="34" charset="-122"/>
                <a:cs typeface="Aleo Bold" pitchFamily="34" charset="-120"/>
              </a:rPr>
              <a:t>Tres tipos de blob para tres usos</a:t>
            </a:r>
            <a:endParaRPr lang="en-US" sz="3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179" y="1402060"/>
            <a:ext cx="3748887" cy="46685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272749" y="1173460"/>
            <a:ext cx="63498" cy="1505347"/>
          </a:xfrm>
          <a:prstGeom prst="rect">
            <a:avLst/>
          </a:prstGeom>
          <a:solidFill>
            <a:srgbClr val="1F3E8C"/>
          </a:solidFill>
          <a:ln/>
        </p:spPr>
      </p:sp>
      <p:sp>
        <p:nvSpPr>
          <p:cNvPr id="5" name="Text 2"/>
          <p:cNvSpPr/>
          <p:nvPr/>
        </p:nvSpPr>
        <p:spPr>
          <a:xfrm>
            <a:off x="5564842" y="1312525"/>
            <a:ext cx="5788674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dirty="0">
                <a:solidFill>
                  <a:srgbClr val="1B2910"/>
                </a:solidFill>
                <a:latin typeface="Lexend Deca Medium" pitchFamily="34" charset="0"/>
                <a:ea typeface="Lexend Deca Medium" pitchFamily="34" charset="-122"/>
                <a:cs typeface="Lexend Deca Medium" pitchFamily="34" charset="-120"/>
              </a:rPr>
              <a:t>Bloques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5564842" y="1765221"/>
            <a:ext cx="5788674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1B291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Hasta 4000 MiB por bloque y 190,7 TiB por blob. Objetos binarios grandes que cambian poco.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272749" y="2983607"/>
            <a:ext cx="63498" cy="1505347"/>
          </a:xfrm>
          <a:prstGeom prst="rect">
            <a:avLst/>
          </a:prstGeom>
          <a:solidFill>
            <a:srgbClr val="F2A01C"/>
          </a:solidFill>
          <a:ln/>
        </p:spPr>
      </p:sp>
      <p:sp>
        <p:nvSpPr>
          <p:cNvPr id="8" name="Text 5"/>
          <p:cNvSpPr/>
          <p:nvPr/>
        </p:nvSpPr>
        <p:spPr>
          <a:xfrm>
            <a:off x="5564842" y="3122672"/>
            <a:ext cx="5788674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dirty="0">
                <a:solidFill>
                  <a:srgbClr val="1B2910"/>
                </a:solidFill>
                <a:latin typeface="Lexend Deca Medium" pitchFamily="34" charset="0"/>
                <a:ea typeface="Lexend Deca Medium" pitchFamily="34" charset="-122"/>
                <a:cs typeface="Lexend Deca Medium" pitchFamily="34" charset="-120"/>
              </a:rPr>
              <a:t>Páginas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5564842" y="3575367"/>
            <a:ext cx="5788674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1B291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Páginas fijas de 512 bytes; hasta 8 TB. Lectura y escritura aleatoria; discos virtuales de máquinas virtuales.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272749" y="4793754"/>
            <a:ext cx="63498" cy="1505446"/>
          </a:xfrm>
          <a:prstGeom prst="rect">
            <a:avLst/>
          </a:prstGeom>
          <a:solidFill>
            <a:srgbClr val="7A2C6C"/>
          </a:solidFill>
          <a:ln/>
        </p:spPr>
      </p:sp>
      <p:sp>
        <p:nvSpPr>
          <p:cNvPr id="11" name="Text 8"/>
          <p:cNvSpPr/>
          <p:nvPr/>
        </p:nvSpPr>
        <p:spPr>
          <a:xfrm>
            <a:off x="5564842" y="4932819"/>
            <a:ext cx="5788674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dirty="0">
                <a:solidFill>
                  <a:srgbClr val="1B2910"/>
                </a:solidFill>
                <a:latin typeface="Lexend Deca Medium" pitchFamily="34" charset="0"/>
                <a:ea typeface="Lexend Deca Medium" pitchFamily="34" charset="-122"/>
                <a:cs typeface="Lexend Deca Medium" pitchFamily="34" charset="-120"/>
              </a:rPr>
              <a:t>Anexión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5564842" y="5385514"/>
            <a:ext cx="5788674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1B291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Solo añade bloques al final, de hasta 4 MB. Máximo poco más de 195 GB.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4F6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70230"/>
            <a:ext cx="10972526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b="1" spc="-45" kern="100" dirty="0">
                <a:solidFill>
                  <a:srgbClr val="1B2910"/>
                </a:solidFill>
                <a:latin typeface="Aleo Bold" pitchFamily="34" charset="0"/>
                <a:ea typeface="Aleo Bold" pitchFamily="34" charset="-122"/>
                <a:cs typeface="Aleo Bold" pitchFamily="34" charset="-120"/>
              </a:rPr>
              <a:t>Cuatro niveles de acceso equilibran latencia y costo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2113359"/>
          <a:ext cx="6309262" cy="914400"/>
        </p:xfrm>
        <a:graphic>
          <a:graphicData uri="http://schemas.openxmlformats.org/drawingml/2006/table">
            <a:tbl>
              <a:tblPr/>
              <a:tblGrid>
                <a:gridCol w="1451038"/>
                <a:gridCol w="4858224"/>
              </a:tblGrid>
              <a:tr h="424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B2910"/>
                          </a:solidFill>
                          <a:latin typeface="Lexend Deca" pitchFamily="34" charset="0"/>
                          <a:ea typeface="Lexend Deca" pitchFamily="34" charset="-122"/>
                          <a:cs typeface="Lexend Deca" pitchFamily="34" charset="-120"/>
                        </a:rPr>
                        <a:t>Nivel</a:t>
                      </a:r>
                      <a:endParaRPr lang="en-US" sz="1600" dirty="0">
                        <a:latin typeface="Lexend Deca" charset="0"/>
                        <a:ea typeface="Lexend Deca" charset="0"/>
                        <a:cs typeface="Lexend Deca" charset="0"/>
                      </a:endParaRPr>
                    </a:p>
                  </a:txBody>
                  <a:tcPr marL="152396" marR="152396" marT="63498" marB="63498" anchor="ctr">
                    <a:lnL w="12700" cap="flat" cmpd="sng" algn="ctr">
                      <a:solidFill>
                        <a:srgbClr val="D3E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D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DA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B2910"/>
                          </a:solidFill>
                          <a:latin typeface="Lexend Deca" pitchFamily="34" charset="0"/>
                          <a:ea typeface="Lexend Deca" pitchFamily="34" charset="-122"/>
                          <a:cs typeface="Lexend Deca" pitchFamily="34" charset="-120"/>
                        </a:rPr>
                        <a:t>Acceso y permanencia</a:t>
                      </a:r>
                      <a:endParaRPr lang="en-US" sz="1600" dirty="0">
                        <a:latin typeface="Lexend Deca" charset="0"/>
                        <a:ea typeface="Lexend Deca" charset="0"/>
                        <a:cs typeface="Lexend Deca" charset="0"/>
                      </a:endParaRPr>
                    </a:p>
                  </a:txBody>
                  <a:tcPr marL="152396" marR="152396" marT="63498" marB="63498" anchor="ctr">
                    <a:lnL w="12700" cap="flat" cmpd="sng" algn="ctr">
                      <a:solidFill>
                        <a:srgbClr val="D3E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D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DA7"/>
                    </a:solidFill>
                  </a:tcPr>
                </a:tc>
              </a:tr>
              <a:tr h="70860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910"/>
                          </a:solidFill>
                          <a:latin typeface="Lexend Deca" pitchFamily="34" charset="0"/>
                          <a:ea typeface="Lexend Deca" pitchFamily="34" charset="-122"/>
                          <a:cs typeface="Lexend Deca" pitchFamily="34" charset="-120"/>
                        </a:rPr>
                        <a:t>Hot</a:t>
                      </a:r>
                      <a:endParaRPr lang="en-US" sz="1600" dirty="0">
                        <a:latin typeface="Lexend Deca" charset="0"/>
                        <a:ea typeface="Lexend Deca" charset="0"/>
                        <a:cs typeface="Lexend Deca" charset="0"/>
                      </a:endParaRPr>
                    </a:p>
                  </a:txBody>
                  <a:tcPr marL="152396" marR="152396" marT="63498" marB="63498" anchor="ctr">
                    <a:lnL w="12700" cap="flat" cmpd="sng" algn="ctr">
                      <a:solidFill>
                        <a:srgbClr val="E4F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D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D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910"/>
                          </a:solidFill>
                          <a:latin typeface="Lexend Deca" pitchFamily="34" charset="0"/>
                          <a:ea typeface="Lexend Deca" pitchFamily="34" charset="-122"/>
                          <a:cs typeface="Lexend Deca" pitchFamily="34" charset="-120"/>
                        </a:rPr>
                        <a:t>Predeterminado. Acceso frecuente y medios de alto rendimiento.</a:t>
                      </a:r>
                      <a:endParaRPr lang="en-US" sz="1600" dirty="0">
                        <a:latin typeface="Lexend Deca" charset="0"/>
                        <a:ea typeface="Lexend Deca" charset="0"/>
                        <a:cs typeface="Lexend Deca" charset="0"/>
                      </a:endParaRPr>
                    </a:p>
                  </a:txBody>
                  <a:tcPr marL="152396" marR="152396" marT="63498" marB="63498" anchor="ctr">
                    <a:lnL w="12700" cap="flat" cmpd="sng" algn="ctr">
                      <a:solidFill>
                        <a:srgbClr val="E4F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D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D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860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910"/>
                          </a:solidFill>
                          <a:latin typeface="Lexend Deca" pitchFamily="34" charset="0"/>
                          <a:ea typeface="Lexend Deca" pitchFamily="34" charset="-122"/>
                          <a:cs typeface="Lexend Deca" pitchFamily="34" charset="-120"/>
                        </a:rPr>
                        <a:t>Cool</a:t>
                      </a:r>
                      <a:endParaRPr lang="en-US" sz="1600" dirty="0">
                        <a:latin typeface="Lexend Deca" charset="0"/>
                        <a:ea typeface="Lexend Deca" charset="0"/>
                        <a:cs typeface="Lexend Deca" charset="0"/>
                      </a:endParaRPr>
                    </a:p>
                  </a:txBody>
                  <a:tcPr marL="152396" marR="152396" marT="63498" marB="63498" anchor="ctr">
                    <a:lnL w="12700" cap="flat" cmpd="sng" algn="ctr">
                      <a:solidFill>
                        <a:srgbClr val="E4F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D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D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910"/>
                          </a:solidFill>
                          <a:latin typeface="Lexend Deca" pitchFamily="34" charset="0"/>
                          <a:ea typeface="Lexend Deca" pitchFamily="34" charset="-122"/>
                          <a:cs typeface="Lexend Deca" pitchFamily="34" charset="-120"/>
                        </a:rPr>
                        <a:t>Menor costo de almacenamiento y mayor de acceso. Mínimo 30 días.</a:t>
                      </a:r>
                      <a:endParaRPr lang="en-US" sz="1600" dirty="0">
                        <a:latin typeface="Lexend Deca" charset="0"/>
                        <a:ea typeface="Lexend Deca" charset="0"/>
                        <a:cs typeface="Lexend Deca" charset="0"/>
                      </a:endParaRPr>
                    </a:p>
                  </a:txBody>
                  <a:tcPr marL="152396" marR="152396" marT="63498" marB="63498" anchor="ctr">
                    <a:lnL w="12700" cap="flat" cmpd="sng" algn="ctr">
                      <a:solidFill>
                        <a:srgbClr val="E4F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D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D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860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910"/>
                          </a:solidFill>
                          <a:latin typeface="Lexend Deca" pitchFamily="34" charset="0"/>
                          <a:ea typeface="Lexend Deca" pitchFamily="34" charset="-122"/>
                          <a:cs typeface="Lexend Deca" pitchFamily="34" charset="-120"/>
                        </a:rPr>
                        <a:t>Frío</a:t>
                      </a:r>
                      <a:endParaRPr lang="en-US" sz="1600" dirty="0">
                        <a:latin typeface="Lexend Deca" charset="0"/>
                        <a:ea typeface="Lexend Deca" charset="0"/>
                        <a:cs typeface="Lexend Deca" charset="0"/>
                      </a:endParaRPr>
                    </a:p>
                  </a:txBody>
                  <a:tcPr marL="152396" marR="152396" marT="63498" marB="63498" anchor="ctr">
                    <a:lnL w="12700" cap="flat" cmpd="sng" algn="ctr">
                      <a:solidFill>
                        <a:srgbClr val="E4F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D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D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910"/>
                          </a:solidFill>
                          <a:latin typeface="Lexend Deca" pitchFamily="34" charset="0"/>
                          <a:ea typeface="Lexend Deca" pitchFamily="34" charset="-122"/>
                          <a:cs typeface="Lexend Deca" pitchFamily="34" charset="-120"/>
                        </a:rPr>
                        <a:t>Acceso poco frecuente con recuperación rápida. Mínimo 90 días.</a:t>
                      </a:r>
                      <a:endParaRPr lang="en-US" sz="1600" dirty="0">
                        <a:latin typeface="Lexend Deca" charset="0"/>
                        <a:ea typeface="Lexend Deca" charset="0"/>
                        <a:cs typeface="Lexend Deca" charset="0"/>
                      </a:endParaRPr>
                    </a:p>
                  </a:txBody>
                  <a:tcPr marL="152396" marR="152396" marT="63498" marB="63498" anchor="ctr">
                    <a:lnL w="12700" cap="flat" cmpd="sng" algn="ctr">
                      <a:solidFill>
                        <a:srgbClr val="E4F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D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D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590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910"/>
                          </a:solidFill>
                          <a:latin typeface="Lexend Deca" pitchFamily="34" charset="0"/>
                          <a:ea typeface="Lexend Deca" pitchFamily="34" charset="-122"/>
                          <a:cs typeface="Lexend Deca" pitchFamily="34" charset="-120"/>
                        </a:rPr>
                        <a:t>Archivo</a:t>
                      </a:r>
                      <a:endParaRPr lang="en-US" sz="1600" dirty="0">
                        <a:latin typeface="Lexend Deca" charset="0"/>
                        <a:ea typeface="Lexend Deca" charset="0"/>
                        <a:cs typeface="Lexend Deca" charset="0"/>
                      </a:endParaRPr>
                    </a:p>
                  </a:txBody>
                  <a:tcPr marL="152396" marR="152396" marT="63498" marB="63498" anchor="ctr">
                    <a:lnL w="12700" cap="flat" cmpd="sng" algn="ctr">
                      <a:solidFill>
                        <a:srgbClr val="E4F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D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F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910"/>
                          </a:solidFill>
                          <a:latin typeface="Lexend Deca" pitchFamily="34" charset="0"/>
                          <a:ea typeface="Lexend Deca" pitchFamily="34" charset="-122"/>
                          <a:cs typeface="Lexend Deca" pitchFamily="34" charset="-120"/>
                        </a:rPr>
                        <a:t>Menor costo y mayor latencia. Mínimo 180 días; lectura hasta 15 horas por rehidratación.</a:t>
                      </a:r>
                      <a:endParaRPr lang="en-US" sz="1600" dirty="0">
                        <a:latin typeface="Lexend Deca" charset="0"/>
                        <a:ea typeface="Lexend Deca" charset="0"/>
                        <a:cs typeface="Lexend Deca" charset="0"/>
                      </a:endParaRPr>
                    </a:p>
                  </a:txBody>
                  <a:tcPr marL="152396" marR="152396" marT="63498" marB="63498" anchor="ctr">
                    <a:lnL w="12700" cap="flat" cmpd="sng" algn="ctr">
                      <a:solidFill>
                        <a:srgbClr val="E4F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D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F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4530" y="1402060"/>
            <a:ext cx="3748986" cy="46685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4F6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19430"/>
            <a:ext cx="10972526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b="1" spc="-45" kern="100" dirty="0">
                <a:solidFill>
                  <a:srgbClr val="1B2910"/>
                </a:solidFill>
                <a:latin typeface="Aleo Bold" pitchFamily="34" charset="0"/>
                <a:ea typeface="Aleo Bold" pitchFamily="34" charset="-122"/>
                <a:cs typeface="Aleo Bold" pitchFamily="34" charset="-120"/>
              </a:rPr>
              <a:t>Ciclo de vida y redundancia protegen y abaratan los datos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09585" y="1127740"/>
            <a:ext cx="11582110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1B291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Las directivas mueven blobs según los días desde la última modificación y pueden eliminar blobs obsoletos.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09585" y="1591270"/>
            <a:ext cx="2819627" cy="254000"/>
          </a:xfrm>
          <a:prstGeom prst="roundRect">
            <a:avLst>
              <a:gd name="adj" fmla="val 49999"/>
            </a:avLst>
          </a:prstGeom>
          <a:solidFill>
            <a:srgbClr val="1F3E8C"/>
          </a:solidFill>
          <a:ln/>
        </p:spPr>
      </p:sp>
      <p:sp>
        <p:nvSpPr>
          <p:cNvPr id="5" name="Text 3"/>
          <p:cNvSpPr/>
          <p:nvPr/>
        </p:nvSpPr>
        <p:spPr>
          <a:xfrm>
            <a:off x="736582" y="1640520"/>
            <a:ext cx="3175218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300" spc="26" kern="100" dirty="0">
                <a:solidFill>
                  <a:srgbClr val="FFFFFF"/>
                </a:solidFill>
                <a:latin typeface="Ubuntu Mono" pitchFamily="34" charset="0"/>
                <a:ea typeface="Ubuntu Mono" pitchFamily="34" charset="-122"/>
                <a:cs typeface="Ubuntu Mono" pitchFamily="34" charset="-120"/>
              </a:rPr>
              <a:t>Hot → Cool → Frío → Archivo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179" y="2258020"/>
            <a:ext cx="4800480" cy="38633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324442" y="2041485"/>
            <a:ext cx="5257668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dirty="0">
                <a:solidFill>
                  <a:srgbClr val="1B2910"/>
                </a:solidFill>
                <a:latin typeface="Lexend Deca Medium" pitchFamily="34" charset="0"/>
                <a:ea typeface="Lexend Deca Medium" pitchFamily="34" charset="-122"/>
                <a:cs typeface="Lexend Deca Medium" pitchFamily="34" charset="-120"/>
              </a:rPr>
              <a:t>LRS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324442" y="2494181"/>
            <a:ext cx="5257668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1B291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Tres copias en un único centro de datos.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324442" y="3393639"/>
            <a:ext cx="5257668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dirty="0">
                <a:solidFill>
                  <a:srgbClr val="1B2910"/>
                </a:solidFill>
                <a:latin typeface="Lexend Deca Medium" pitchFamily="34" charset="0"/>
                <a:ea typeface="Lexend Deca Medium" pitchFamily="34" charset="-122"/>
                <a:cs typeface="Lexend Deca Medium" pitchFamily="34" charset="-120"/>
              </a:rPr>
              <a:t>ZRS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6324442" y="3846334"/>
            <a:ext cx="5257668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1B291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Copias en tres zonas de disponibilidad de la región primaria.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324442" y="5030252"/>
            <a:ext cx="5257668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dirty="0">
                <a:solidFill>
                  <a:srgbClr val="1B2910"/>
                </a:solidFill>
                <a:latin typeface="Lexend Deca Medium" pitchFamily="34" charset="0"/>
                <a:ea typeface="Lexend Deca Medium" pitchFamily="34" charset="-122"/>
                <a:cs typeface="Lexend Deca Medium" pitchFamily="34" charset="-120"/>
              </a:rPr>
              <a:t>GRS y GZRS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6324442" y="5482947"/>
            <a:ext cx="5257668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1B291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Replicación asincrónica a una región secundaria. RA-GRS y RA-GZRS permiten leer de ella.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4F6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70230"/>
            <a:ext cx="10972526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b="1" spc="-45" kern="100" dirty="0">
                <a:solidFill>
                  <a:srgbClr val="1B2910"/>
                </a:solidFill>
                <a:latin typeface="Aleo Bold" pitchFamily="34" charset="0"/>
                <a:ea typeface="Aleo Bold" pitchFamily="34" charset="-122"/>
                <a:cs typeface="Aleo Bold" pitchFamily="34" charset="-120"/>
              </a:rPr>
              <a:t>Data Lake Storage Gen2 añade un sistema de archivos jerárquico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09585" y="2154634"/>
            <a:ext cx="5257668" cy="20928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1B291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Lago de datos a escala en la nube, integrado en Azure Storage.</a:t>
            </a:r>
            <a:endParaRPr lang="en-US" sz="1600" dirty="0"/>
          </a:p>
          <a:p>
            <a:pPr algn="l" marL="325120" indent="-325120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1B291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Combina escalabilidad y control de costos de Blob Storage con un sistema de archivos jerárquico.</a:t>
            </a:r>
            <a:endParaRPr lang="en-US" sz="1600" dirty="0"/>
          </a:p>
          <a:p>
            <a:pPr algn="l" marL="325120" indent="-325120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1B291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Compatible con sistemas de análisis como Azure Databricks.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09585" y="4368105"/>
            <a:ext cx="5257668" cy="1361380"/>
          </a:xfrm>
          <a:prstGeom prst="roundRect">
            <a:avLst>
              <a:gd name="adj" fmla="val 13433"/>
            </a:avLst>
          </a:prstGeom>
          <a:solidFill>
            <a:srgbClr val="FCF2B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4660205"/>
            <a:ext cx="253994" cy="203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69968" y="4627185"/>
            <a:ext cx="4394090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Hay que habilitar el espacio de nombres jerárquico al crear la cuenta o actualizarla. La actualización no se puede revertir.</a:t>
            </a:r>
            <a:endParaRPr lang="en-US" sz="16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036" y="1813520"/>
            <a:ext cx="4800480" cy="42570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4F6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70230"/>
            <a:ext cx="10972526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b="1" spc="-45" kern="100" dirty="0">
                <a:solidFill>
                  <a:srgbClr val="1B2910"/>
                </a:solidFill>
                <a:latin typeface="Aleo Bold" pitchFamily="34" charset="0"/>
                <a:ea typeface="Aleo Bold" pitchFamily="34" charset="-122"/>
                <a:cs typeface="Aleo Bold" pitchFamily="34" charset="-120"/>
              </a:rPr>
              <a:t>OneLake es un único lago de datos para toda la organización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09585" y="1178540"/>
            <a:ext cx="11582110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1B291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Se aprovisiona automáticamente con cada inquilino de Microsoft Fabric, sobre ADLS Gen2.</a:t>
            </a:r>
            <a:endParaRPr lang="en-US" sz="1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179" y="1870670"/>
            <a:ext cx="4800480" cy="41999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324442" y="2756595"/>
            <a:ext cx="5257668" cy="2428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1B291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Un lago compartido para toda la organización, en lugar de varios por grupo empresarial.</a:t>
            </a:r>
            <a:endParaRPr lang="en-US" sz="1600" dirty="0"/>
          </a:p>
          <a:p>
            <a:pPr algn="l" marL="325120" indent="-325120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1B291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Propiedad distribuida en áreas de trabajo con límites de gobernanza.</a:t>
            </a:r>
            <a:endParaRPr lang="en-US" sz="1600" dirty="0"/>
          </a:p>
          <a:p>
            <a:pPr algn="l" marL="325120" indent="-325120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1B291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Formato Delta Parquet y API y SDK de ADLS Gen2.</a:t>
            </a:r>
            <a:endParaRPr lang="en-US" sz="1600" dirty="0"/>
          </a:p>
          <a:p>
            <a:pPr algn="l" marL="325120" indent="-325120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1B291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Navegación desde Windows con el explorador de archivos de OneLake.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4F6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70230"/>
            <a:ext cx="10972526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b="1" spc="-45" kern="100" dirty="0">
                <a:solidFill>
                  <a:srgbClr val="1B2910"/>
                </a:solidFill>
                <a:latin typeface="Aleo Bold" pitchFamily="34" charset="0"/>
                <a:ea typeface="Aleo Bold" pitchFamily="34" charset="-122"/>
                <a:cs typeface="Aleo Bold" pitchFamily="34" charset="-120"/>
              </a:rPr>
              <a:t>Azure Files lleva los recursos compartidos de red a la nube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09585" y="2467094"/>
            <a:ext cx="5257668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1B291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Varios usuarios acceden a documentos y archivos mediante recursos compartidos de red en la nube.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09585" y="3151584"/>
            <a:ext cx="5257668" cy="185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1B291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Elimina costos de hardware y sobrecarga de mantenimiento.</a:t>
            </a:r>
            <a:endParaRPr lang="en-US" sz="1600" dirty="0"/>
          </a:p>
          <a:p>
            <a:pPr algn="l" marL="325120" indent="-325120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1B291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Hasta 256 TiB por cuenta basada en SSD; hasta 4 TiB por archivo.</a:t>
            </a:r>
            <a:endParaRPr lang="en-US" sz="1600" dirty="0"/>
          </a:p>
          <a:p>
            <a:pPr algn="l" marL="325120" indent="-325120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1B291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Carga con Azure Portal o AzCopy.</a:t>
            </a:r>
            <a:endParaRPr lang="en-US" sz="1600" dirty="0"/>
          </a:p>
          <a:p>
            <a:pPr algn="l" marL="325120" indent="-325120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1B291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Azure File Sync sincroniza copias en caché local.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53036" y="1402060"/>
            <a:ext cx="4800480" cy="46685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4F6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70230"/>
            <a:ext cx="10972526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b="1" spc="-45" kern="100" dirty="0">
                <a:solidFill>
                  <a:srgbClr val="1B2910"/>
                </a:solidFill>
                <a:latin typeface="Aleo Bold" pitchFamily="34" charset="0"/>
                <a:ea typeface="Aleo Bold" pitchFamily="34" charset="-122"/>
                <a:cs typeface="Aleo Bold" pitchFamily="34" charset="-120"/>
              </a:rPr>
              <a:t>Azure Files: niveles y protocolos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09585" y="1178540"/>
            <a:ext cx="11582110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1B291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HDD y SSD: SSD ofrece mayor rendimiento a una tarifa superior.</a:t>
            </a:r>
            <a:endParaRPr lang="en-US" sz="1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179" y="1870670"/>
            <a:ext cx="3748887" cy="419993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272749" y="1642070"/>
            <a:ext cx="3002284" cy="4657130"/>
          </a:xfrm>
          <a:prstGeom prst="rect">
            <a:avLst/>
          </a:prstGeom>
          <a:solidFill>
            <a:srgbClr val="CADEBB"/>
          </a:solidFill>
          <a:ln/>
        </p:spPr>
      </p:sp>
      <p:sp>
        <p:nvSpPr>
          <p:cNvPr id="6" name="Shape 3"/>
          <p:cNvSpPr/>
          <p:nvPr/>
        </p:nvSpPr>
        <p:spPr>
          <a:xfrm>
            <a:off x="5552142" y="1921470"/>
            <a:ext cx="511559" cy="254000"/>
          </a:xfrm>
          <a:prstGeom prst="roundRect">
            <a:avLst>
              <a:gd name="adj" fmla="val 49999"/>
            </a:avLst>
          </a:prstGeom>
          <a:solidFill>
            <a:srgbClr val="1F3E8C"/>
          </a:solidFill>
          <a:ln/>
        </p:spPr>
      </p:sp>
      <p:sp>
        <p:nvSpPr>
          <p:cNvPr id="7" name="Text 4"/>
          <p:cNvSpPr/>
          <p:nvPr/>
        </p:nvSpPr>
        <p:spPr>
          <a:xfrm>
            <a:off x="5679139" y="1970720"/>
            <a:ext cx="867150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300" spc="26" kern="100" dirty="0">
                <a:solidFill>
                  <a:srgbClr val="FFFFFF"/>
                </a:solidFill>
                <a:latin typeface="Ubuntu Mono" pitchFamily="34" charset="0"/>
                <a:ea typeface="Ubuntu Mono" pitchFamily="34" charset="-122"/>
                <a:cs typeface="Ubuntu Mono" pitchFamily="34" charset="-120"/>
              </a:rPr>
              <a:t>SMB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552142" y="2301200"/>
            <a:ext cx="2443498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Usado en Windows, Linux y macOS.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579826" y="1642070"/>
            <a:ext cx="3002284" cy="4657130"/>
          </a:xfrm>
          <a:prstGeom prst="rect">
            <a:avLst/>
          </a:prstGeom>
          <a:solidFill>
            <a:srgbClr val="E3E6A9"/>
          </a:solidFill>
          <a:ln/>
        </p:spPr>
      </p:sp>
      <p:sp>
        <p:nvSpPr>
          <p:cNvPr id="10" name="Shape 7"/>
          <p:cNvSpPr/>
          <p:nvPr/>
        </p:nvSpPr>
        <p:spPr>
          <a:xfrm>
            <a:off x="8859219" y="1921470"/>
            <a:ext cx="511559" cy="254000"/>
          </a:xfrm>
          <a:prstGeom prst="roundRect">
            <a:avLst>
              <a:gd name="adj" fmla="val 49999"/>
            </a:avLst>
          </a:prstGeom>
          <a:solidFill>
            <a:srgbClr val="F2A01C"/>
          </a:solidFill>
          <a:ln/>
        </p:spPr>
      </p:sp>
      <p:sp>
        <p:nvSpPr>
          <p:cNvPr id="11" name="Text 8"/>
          <p:cNvSpPr/>
          <p:nvPr/>
        </p:nvSpPr>
        <p:spPr>
          <a:xfrm>
            <a:off x="8986216" y="1970720"/>
            <a:ext cx="867150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300" spc="26" kern="100" dirty="0">
                <a:solidFill>
                  <a:srgbClr val="000000"/>
                </a:solidFill>
                <a:latin typeface="Ubuntu Mono" pitchFamily="34" charset="0"/>
                <a:ea typeface="Ubuntu Mono" pitchFamily="34" charset="-122"/>
                <a:cs typeface="Ubuntu Mono" pitchFamily="34" charset="-120"/>
              </a:rPr>
              <a:t>NFS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859219" y="2296120"/>
            <a:ext cx="2443498" cy="12584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Linux, kernel 4.3 o posterior.</a:t>
            </a:r>
            <a:endParaRPr lang="en-US" sz="16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Requiere cuenta SSD y una red virtual.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4F6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1030"/>
            <a:ext cx="10972526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b="1" spc="-45" kern="100" dirty="0">
                <a:solidFill>
                  <a:srgbClr val="1B2910"/>
                </a:solidFill>
                <a:latin typeface="Aleo Bold" pitchFamily="34" charset="0"/>
                <a:ea typeface="Aleo Bold" pitchFamily="34" charset="-122"/>
                <a:cs typeface="Aleo Bold" pitchFamily="34" charset="-120"/>
              </a:rPr>
              <a:t>Azure Table Storage guarda datos semiestructurados clave/valor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09585" y="1640800"/>
            <a:ext cx="11582110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1B291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Solución NoSQL con tablas de elementos key/value. No equivale a una tabla relacional.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09585" y="2650530"/>
            <a:ext cx="5333867" cy="1606451"/>
          </a:xfrm>
          <a:prstGeom prst="rect">
            <a:avLst/>
          </a:prstGeom>
          <a:solidFill>
            <a:srgbClr val="CADEBB"/>
          </a:solidFill>
          <a:ln/>
        </p:spPr>
      </p:sp>
      <p:sp>
        <p:nvSpPr>
          <p:cNvPr id="5" name="Text 3"/>
          <p:cNvSpPr/>
          <p:nvPr/>
        </p:nvSpPr>
        <p:spPr>
          <a:xfrm>
            <a:off x="838179" y="2891195"/>
            <a:ext cx="4876678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Lexend Deca Medium" pitchFamily="34" charset="0"/>
                <a:ea typeface="Lexend Deca Medium" pitchFamily="34" charset="-122"/>
                <a:cs typeface="Lexend Deca Medium" pitchFamily="34" charset="-120"/>
              </a:rPr>
              <a:t>Clave única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38179" y="3338810"/>
            <a:ext cx="4876678" cy="689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Clave de partición + clave de fila</a:t>
            </a:r>
            <a:endParaRPr lang="en-US" sz="16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Más una marca de tiempo.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48244" y="2650530"/>
            <a:ext cx="63498" cy="1606451"/>
          </a:xfrm>
          <a:prstGeom prst="rect">
            <a:avLst/>
          </a:prstGeom>
          <a:solidFill>
            <a:srgbClr val="F2A01C"/>
          </a:solidFill>
          <a:ln/>
        </p:spPr>
      </p:sp>
      <p:sp>
        <p:nvSpPr>
          <p:cNvPr id="8" name="Text 6"/>
          <p:cNvSpPr/>
          <p:nvPr/>
        </p:nvSpPr>
        <p:spPr>
          <a:xfrm>
            <a:off x="6591135" y="2891195"/>
            <a:ext cx="4711582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dirty="0">
                <a:solidFill>
                  <a:srgbClr val="1B2910"/>
                </a:solidFill>
                <a:latin typeface="Lexend Deca Medium" pitchFamily="34" charset="0"/>
                <a:ea typeface="Lexend Deca Medium" pitchFamily="34" charset="-122"/>
                <a:cs typeface="Lexend Deca Medium" pitchFamily="34" charset="-120"/>
              </a:rPr>
              <a:t>Datos desnormalizados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591135" y="3343890"/>
            <a:ext cx="4711582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1B291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Cada fila contiene todos los datos de una entidad lógica.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09585" y="4446210"/>
            <a:ext cx="11582110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1B291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Sin claves externas, relaciones, procedimientos almacenados ni vistas.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09585" y="5455940"/>
            <a:ext cx="10972526" cy="792460"/>
          </a:xfrm>
          <a:prstGeom prst="roundRect">
            <a:avLst>
              <a:gd name="adj" fmla="val 23077"/>
            </a:avLst>
          </a:prstGeom>
          <a:solidFill>
            <a:srgbClr val="B6D6FC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5748040"/>
            <a:ext cx="253994" cy="2032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269968" y="5715020"/>
            <a:ext cx="10718532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Para nuevas cargas de trabajo se recomienda Azure Cosmos DB para Table.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4F6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1030"/>
            <a:ext cx="10972526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b="1" spc="-45" kern="100" dirty="0">
                <a:solidFill>
                  <a:srgbClr val="1B2910"/>
                </a:solidFill>
                <a:latin typeface="Aleo Bold" pitchFamily="34" charset="0"/>
                <a:ea typeface="Aleo Bold" pitchFamily="34" charset="-122"/>
                <a:cs typeface="Aleo Bold" pitchFamily="34" charset="-120"/>
              </a:rPr>
              <a:t>Las particiones aceleran el acceso en Table Storage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09585" y="2264470"/>
            <a:ext cx="5257668" cy="76200"/>
          </a:xfrm>
          <a:prstGeom prst="rect">
            <a:avLst/>
          </a:prstGeom>
          <a:solidFill>
            <a:srgbClr val="1F3E8C"/>
          </a:solidFill>
          <a:ln/>
        </p:spPr>
      </p:sp>
      <p:sp>
        <p:nvSpPr>
          <p:cNvPr id="4" name="Shape 2"/>
          <p:cNvSpPr/>
          <p:nvPr/>
        </p:nvSpPr>
        <p:spPr>
          <a:xfrm>
            <a:off x="609585" y="2645470"/>
            <a:ext cx="1284255" cy="254000"/>
          </a:xfrm>
          <a:prstGeom prst="roundRect">
            <a:avLst>
              <a:gd name="adj" fmla="val 49999"/>
            </a:avLst>
          </a:prstGeom>
          <a:solidFill>
            <a:srgbClr val="1F3E8C"/>
          </a:solidFill>
          <a:ln/>
        </p:spPr>
      </p:sp>
      <p:sp>
        <p:nvSpPr>
          <p:cNvPr id="5" name="Text 3"/>
          <p:cNvSpPr/>
          <p:nvPr/>
        </p:nvSpPr>
        <p:spPr>
          <a:xfrm>
            <a:off x="736582" y="2694719"/>
            <a:ext cx="1639846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300" spc="26" kern="100" dirty="0">
                <a:solidFill>
                  <a:srgbClr val="FFFFFF"/>
                </a:solidFill>
                <a:latin typeface="Ubuntu Mono" pitchFamily="34" charset="0"/>
                <a:ea typeface="Ubuntu Mono" pitchFamily="34" charset="-122"/>
                <a:cs typeface="Ubuntu Mono" pitchFamily="34" charset="-120"/>
              </a:rPr>
              <a:t>PartitionKey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09585" y="2994085"/>
            <a:ext cx="5257668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dirty="0">
                <a:solidFill>
                  <a:srgbClr val="1B2910"/>
                </a:solidFill>
                <a:latin typeface="Lexend Deca Medium" pitchFamily="34" charset="0"/>
                <a:ea typeface="Lexend Deca Medium" pitchFamily="34" charset="-122"/>
                <a:cs typeface="Lexend Deca Medium" pitchFamily="34" charset="-120"/>
              </a:rPr>
              <a:t>Filas relacionadas, juntas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09585" y="3441700"/>
            <a:ext cx="5257668" cy="12584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rgbClr val="1B291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Las particiones son independientes y pueden crecer o reducirse.</a:t>
            </a:r>
            <a:endParaRPr lang="en-US" sz="16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1B291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Incluir la clave de partición en la búsqueda reduce la E/S.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324442" y="2264470"/>
            <a:ext cx="5257668" cy="76200"/>
          </a:xfrm>
          <a:prstGeom prst="rect">
            <a:avLst/>
          </a:prstGeom>
          <a:solidFill>
            <a:srgbClr val="7A2C6C"/>
          </a:solidFill>
          <a:ln/>
        </p:spPr>
      </p:sp>
      <p:sp>
        <p:nvSpPr>
          <p:cNvPr id="9" name="Shape 7"/>
          <p:cNvSpPr/>
          <p:nvPr/>
        </p:nvSpPr>
        <p:spPr>
          <a:xfrm>
            <a:off x="6324442" y="2645470"/>
            <a:ext cx="1370077" cy="254000"/>
          </a:xfrm>
          <a:prstGeom prst="roundRect">
            <a:avLst>
              <a:gd name="adj" fmla="val 49999"/>
            </a:avLst>
          </a:prstGeom>
          <a:solidFill>
            <a:srgbClr val="7A2C6C"/>
          </a:solidFill>
          <a:ln/>
        </p:spPr>
      </p:sp>
      <p:sp>
        <p:nvSpPr>
          <p:cNvPr id="10" name="Text 8"/>
          <p:cNvSpPr/>
          <p:nvPr/>
        </p:nvSpPr>
        <p:spPr>
          <a:xfrm>
            <a:off x="6451439" y="2694719"/>
            <a:ext cx="1725669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300" spc="26" kern="100" dirty="0">
                <a:solidFill>
                  <a:srgbClr val="FFFFFF"/>
                </a:solidFill>
                <a:latin typeface="Ubuntu Mono" pitchFamily="34" charset="0"/>
                <a:ea typeface="Ubuntu Mono" pitchFamily="34" charset="-122"/>
                <a:cs typeface="Ubuntu Mono" pitchFamily="34" charset="-120"/>
              </a:rPr>
              <a:t>Clave de fila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24442" y="2994085"/>
            <a:ext cx="5257668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dirty="0">
                <a:solidFill>
                  <a:srgbClr val="1B2910"/>
                </a:solidFill>
                <a:latin typeface="Lexend Deca Medium" pitchFamily="34" charset="0"/>
                <a:ea typeface="Lexend Deca Medium" pitchFamily="34" charset="-122"/>
                <a:cs typeface="Lexend Deca Medium" pitchFamily="34" charset="-120"/>
              </a:rPr>
              <a:t>Filas ordenadas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324442" y="3441700"/>
            <a:ext cx="5257668" cy="689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rgbClr val="1B291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Las filas se ordenan por clave de fila.</a:t>
            </a:r>
            <a:endParaRPr lang="en-US" sz="16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1B291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Permite consultas de punto y de rango.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4F6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1030"/>
            <a:ext cx="10972526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b="1" spc="-45" kern="100" dirty="0">
                <a:solidFill>
                  <a:srgbClr val="1B2910"/>
                </a:solidFill>
                <a:latin typeface="Aleo Bold" pitchFamily="34" charset="0"/>
                <a:ea typeface="Aleo Bold" pitchFamily="34" charset="-122"/>
                <a:cs typeface="Aleo Bold" pitchFamily="34" charset="-120"/>
              </a:rPr>
              <a:t>Azure Cosmos DB es una base de datos NoSQL totalmente administrada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09585" y="2617589"/>
            <a:ext cx="5257668" cy="1770261"/>
          </a:xfrm>
          <a:prstGeom prst="rect">
            <a:avLst/>
          </a:prstGeom>
          <a:solidFill>
            <a:srgbClr val="CADEBB"/>
          </a:solidFill>
          <a:ln/>
        </p:spPr>
      </p:sp>
      <p:sp>
        <p:nvSpPr>
          <p:cNvPr id="4" name="Text 2"/>
          <p:cNvSpPr/>
          <p:nvPr/>
        </p:nvSpPr>
        <p:spPr>
          <a:xfrm>
            <a:off x="838179" y="2858254"/>
            <a:ext cx="4800480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Lexend Deca Medium" pitchFamily="34" charset="0"/>
                <a:ea typeface="Lexend Deca Medium" pitchFamily="34" charset="-122"/>
                <a:cs typeface="Lexend Deca Medium" pitchFamily="34" charset="-120"/>
              </a:rPr>
              <a:t>Servicio PaaS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38179" y="3310949"/>
            <a:ext cx="4800480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Microsoft gestiona aprovisionamiento, revisiones, actualizaciones y copias de seguridad.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24442" y="2617589"/>
            <a:ext cx="5257668" cy="1770261"/>
          </a:xfrm>
          <a:prstGeom prst="rect">
            <a:avLst/>
          </a:prstGeom>
          <a:solidFill>
            <a:srgbClr val="E3E6A9"/>
          </a:solidFill>
          <a:ln/>
        </p:spPr>
      </p:sp>
      <p:sp>
        <p:nvSpPr>
          <p:cNvPr id="7" name="Text 5"/>
          <p:cNvSpPr/>
          <p:nvPr/>
        </p:nvSpPr>
        <p:spPr>
          <a:xfrm>
            <a:off x="6553036" y="2858254"/>
            <a:ext cx="4800480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Lexend Deca Medium" pitchFamily="34" charset="0"/>
                <a:ea typeface="Lexend Deca Medium" pitchFamily="34" charset="-122"/>
                <a:cs typeface="Lexend Deca Medium" pitchFamily="34" charset="-120"/>
              </a:rPr>
              <a:t>Independiente del esquema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553036" y="3310949"/>
            <a:ext cx="4800480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Los elementos de un mismo contenedor pueden tener estructuras distintas.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09585" y="5578951"/>
            <a:ext cx="10972526" cy="675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00" dirty="0">
                <a:solidFill>
                  <a:srgbClr val="1B291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Xbox Live, Microsoft 365 y partes principales de Azure lo usan con miles de millones de operaciones al día.</a:t>
            </a:r>
            <a:endParaRPr lang="en-US" sz="1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4F6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19430"/>
            <a:ext cx="10972526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b="1" spc="-45" kern="100" dirty="0">
                <a:solidFill>
                  <a:srgbClr val="1B2910"/>
                </a:solidFill>
                <a:latin typeface="Aleo Bold" pitchFamily="34" charset="0"/>
                <a:ea typeface="Aleo Bold" pitchFamily="34" charset="-122"/>
                <a:cs typeface="Aleo Bold" pitchFamily="34" charset="-120"/>
              </a:rPr>
              <a:t>Cuatro niveles organizan los datos en Cosmos DB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68331" y="1718866"/>
            <a:ext cx="63498" cy="596305"/>
          </a:xfrm>
          <a:prstGeom prst="rect">
            <a:avLst/>
          </a:prstGeom>
          <a:solidFill>
            <a:srgbClr val="1F3E8C"/>
          </a:solidFill>
          <a:ln/>
        </p:spPr>
      </p:sp>
      <p:sp>
        <p:nvSpPr>
          <p:cNvPr id="4" name="Shape 2"/>
          <p:cNvSpPr/>
          <p:nvPr/>
        </p:nvSpPr>
        <p:spPr>
          <a:xfrm>
            <a:off x="609585" y="1122660"/>
            <a:ext cx="380990" cy="381000"/>
          </a:xfrm>
          <a:prstGeom prst="ellipse">
            <a:avLst/>
          </a:prstGeom>
          <a:solidFill>
            <a:srgbClr val="E4F6C2"/>
          </a:solidFill>
          <a:ln w="38099">
            <a:solidFill>
              <a:srgbClr val="1F3E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0174" y="1224260"/>
            <a:ext cx="709396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b="1" dirty="0">
                <a:solidFill>
                  <a:srgbClr val="1B2910"/>
                </a:solidFill>
                <a:latin typeface="Lexend Deca Bold" pitchFamily="34" charset="0"/>
                <a:ea typeface="Lexend Deca Bold" pitchFamily="34" charset="-122"/>
                <a:cs typeface="Lexend Deca Bold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93770" y="1133455"/>
            <a:ext cx="4673483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1B2910"/>
                </a:solidFill>
                <a:latin typeface="Lexend Deca Medium" pitchFamily="34" charset="0"/>
                <a:ea typeface="Lexend Deca Medium" pitchFamily="34" charset="-122"/>
                <a:cs typeface="Lexend Deca Medium" pitchFamily="34" charset="-120"/>
              </a:rPr>
              <a:t>Account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93770" y="1554381"/>
            <a:ext cx="4673483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1B291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Recurso superior, con bases de datos ilimitadas.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8331" y="2467570"/>
            <a:ext cx="63498" cy="1192510"/>
          </a:xfrm>
          <a:prstGeom prst="rect">
            <a:avLst/>
          </a:prstGeom>
          <a:solidFill>
            <a:srgbClr val="1F3E8C"/>
          </a:solidFill>
          <a:ln/>
        </p:spPr>
      </p:sp>
      <p:sp>
        <p:nvSpPr>
          <p:cNvPr id="9" name="Shape 7"/>
          <p:cNvSpPr/>
          <p:nvPr/>
        </p:nvSpPr>
        <p:spPr>
          <a:xfrm>
            <a:off x="609585" y="2467570"/>
            <a:ext cx="380990" cy="381000"/>
          </a:xfrm>
          <a:prstGeom prst="ellipse">
            <a:avLst/>
          </a:prstGeom>
          <a:solidFill>
            <a:srgbClr val="E4F6C2"/>
          </a:solidFill>
          <a:ln w="38099">
            <a:solidFill>
              <a:srgbClr val="1F3E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1266" y="2569170"/>
            <a:ext cx="707114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b="1" dirty="0">
                <a:solidFill>
                  <a:srgbClr val="1B2910"/>
                </a:solidFill>
                <a:latin typeface="Lexend Deca Bold" pitchFamily="34" charset="0"/>
                <a:ea typeface="Lexend Deca Bold" pitchFamily="34" charset="-122"/>
                <a:cs typeface="Lexend Deca Bold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93770" y="2478365"/>
            <a:ext cx="4673483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1B2910"/>
                </a:solidFill>
                <a:latin typeface="Lexend Deca Medium" pitchFamily="34" charset="0"/>
                <a:ea typeface="Lexend Deca Medium" pitchFamily="34" charset="-122"/>
                <a:cs typeface="Lexend Deca Medium" pitchFamily="34" charset="-120"/>
              </a:rPr>
              <a:t>Base de datos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193770" y="2899291"/>
            <a:ext cx="4673483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1B291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Espacio de nombres lógico que agrupa contenedores.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8331" y="3812480"/>
            <a:ext cx="63498" cy="1192510"/>
          </a:xfrm>
          <a:prstGeom prst="rect">
            <a:avLst/>
          </a:prstGeom>
          <a:solidFill>
            <a:srgbClr val="1F3E8C"/>
          </a:solidFill>
          <a:ln/>
        </p:spPr>
      </p:sp>
      <p:sp>
        <p:nvSpPr>
          <p:cNvPr id="14" name="Shape 12"/>
          <p:cNvSpPr/>
          <p:nvPr/>
        </p:nvSpPr>
        <p:spPr>
          <a:xfrm>
            <a:off x="609585" y="3812480"/>
            <a:ext cx="380990" cy="381000"/>
          </a:xfrm>
          <a:prstGeom prst="ellipse">
            <a:avLst/>
          </a:prstGeom>
          <a:solidFill>
            <a:srgbClr val="E4F6C2"/>
          </a:solidFill>
          <a:ln w="38099">
            <a:solidFill>
              <a:srgbClr val="1F3E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7495" y="3914080"/>
            <a:ext cx="714754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b="1" dirty="0">
                <a:solidFill>
                  <a:srgbClr val="1B2910"/>
                </a:solidFill>
                <a:latin typeface="Lexend Deca Bold" pitchFamily="34" charset="0"/>
                <a:ea typeface="Lexend Deca Bold" pitchFamily="34" charset="-122"/>
                <a:cs typeface="Lexend Deca Bold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93770" y="3823275"/>
            <a:ext cx="4673483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1B2910"/>
                </a:solidFill>
                <a:latin typeface="Lexend Deca Medium" pitchFamily="34" charset="0"/>
                <a:ea typeface="Lexend Deca Medium" pitchFamily="34" charset="-122"/>
                <a:cs typeface="Lexend Deca Medium" pitchFamily="34" charset="-120"/>
              </a:rPr>
              <a:t>Contenedor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193770" y="4244201"/>
            <a:ext cx="4673483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1B291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Almacenamiento y escalado; clave de partición, rendimiento, indexación y TTL.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8331" y="5157391"/>
            <a:ext cx="63498" cy="596305"/>
          </a:xfrm>
          <a:prstGeom prst="rect">
            <a:avLst/>
          </a:prstGeom>
          <a:solidFill>
            <a:srgbClr val="1F3E8C"/>
          </a:solidFill>
          <a:ln/>
        </p:spPr>
      </p:sp>
      <p:sp>
        <p:nvSpPr>
          <p:cNvPr id="19" name="Shape 17"/>
          <p:cNvSpPr/>
          <p:nvPr/>
        </p:nvSpPr>
        <p:spPr>
          <a:xfrm>
            <a:off x="609585" y="5157391"/>
            <a:ext cx="380990" cy="381000"/>
          </a:xfrm>
          <a:prstGeom prst="ellipse">
            <a:avLst/>
          </a:prstGeom>
          <a:solidFill>
            <a:srgbClr val="E4F6C2"/>
          </a:solidFill>
          <a:ln w="38099">
            <a:solidFill>
              <a:srgbClr val="1F3E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1146" y="5258991"/>
            <a:ext cx="727354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b="1" dirty="0">
                <a:solidFill>
                  <a:srgbClr val="1B2910"/>
                </a:solidFill>
                <a:latin typeface="Lexend Deca Bold" pitchFamily="34" charset="0"/>
                <a:ea typeface="Lexend Deca Bold" pitchFamily="34" charset="-122"/>
                <a:cs typeface="Lexend Deca Bold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93770" y="5168186"/>
            <a:ext cx="4673483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1B2910"/>
                </a:solidFill>
                <a:latin typeface="Lexend Deca Medium" pitchFamily="34" charset="0"/>
                <a:ea typeface="Lexend Deca Medium" pitchFamily="34" charset="-122"/>
                <a:cs typeface="Lexend Deca Medium" pitchFamily="34" charset="-120"/>
              </a:rPr>
              <a:t>Elementos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193770" y="5589111"/>
            <a:ext cx="4673483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1B291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Documentos, filas, nodos o bordes según la API.</a:t>
            </a:r>
            <a:endParaRPr lang="en-US" sz="16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53036" y="1351260"/>
            <a:ext cx="4800480" cy="4258965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6553036" y="5701109"/>
            <a:ext cx="480048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A5937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Hasta 20 GB por partición lógica. Índices automáticos en todas las propiedades.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4F6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468630"/>
            <a:ext cx="11074123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b="1" spc="-45" kern="100" dirty="0">
                <a:solidFill>
                  <a:srgbClr val="1B2910"/>
                </a:solidFill>
                <a:latin typeface="Aleo Bold" pitchFamily="34" charset="0"/>
                <a:ea typeface="Aleo Bold" pitchFamily="34" charset="-122"/>
                <a:cs typeface="Aleo Bold" pitchFamily="34" charset="-120"/>
              </a:rPr>
              <a:t>Distribución global y cinco niveles de coherencia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58786" y="1076940"/>
            <a:ext cx="11632909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1B291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Se añaden regiones en cualquier momento; los datos se replican automáticamente.</a:t>
            </a:r>
            <a:endParaRPr lang="en-US" sz="1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8786" y="1769070"/>
          <a:ext cx="7897516" cy="914400"/>
        </p:xfrm>
        <a:graphic>
          <a:graphicData uri="http://schemas.openxmlformats.org/drawingml/2006/table">
            <a:tbl>
              <a:tblPr/>
              <a:tblGrid>
                <a:gridCol w="2132257"/>
                <a:gridCol w="5765259"/>
              </a:tblGrid>
              <a:tr h="424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B2910"/>
                          </a:solidFill>
                          <a:latin typeface="Lexend Deca" pitchFamily="34" charset="0"/>
                          <a:ea typeface="Lexend Deca" pitchFamily="34" charset="-122"/>
                          <a:cs typeface="Lexend Deca" pitchFamily="34" charset="-120"/>
                        </a:rPr>
                        <a:t>Nivel</a:t>
                      </a:r>
                      <a:endParaRPr lang="en-US" sz="1600" dirty="0">
                        <a:latin typeface="Lexend Deca" charset="0"/>
                        <a:ea typeface="Lexend Deca" charset="0"/>
                        <a:cs typeface="Lexend Deca" charset="0"/>
                      </a:endParaRPr>
                    </a:p>
                  </a:txBody>
                  <a:tcPr marL="152396" marR="152396" marT="63498" marB="63498" anchor="ctr">
                    <a:lnL w="12700" cap="flat" cmpd="sng" algn="ctr">
                      <a:solidFill>
                        <a:srgbClr val="D3E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D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DA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B2910"/>
                          </a:solidFill>
                          <a:latin typeface="Lexend Deca" pitchFamily="34" charset="0"/>
                          <a:ea typeface="Lexend Deca" pitchFamily="34" charset="-122"/>
                          <a:cs typeface="Lexend Deca" pitchFamily="34" charset="-120"/>
                        </a:rPr>
                        <a:t>Descripción</a:t>
                      </a:r>
                      <a:endParaRPr lang="en-US" sz="1600" dirty="0">
                        <a:latin typeface="Lexend Deca" charset="0"/>
                        <a:ea typeface="Lexend Deca" charset="0"/>
                        <a:cs typeface="Lexend Deca" charset="0"/>
                      </a:endParaRPr>
                    </a:p>
                  </a:txBody>
                  <a:tcPr marL="152396" marR="152396" marT="63498" marB="63498" anchor="ctr">
                    <a:lnL w="12700" cap="flat" cmpd="sng" algn="ctr">
                      <a:solidFill>
                        <a:srgbClr val="D3E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D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DA7"/>
                    </a:solidFill>
                  </a:tcPr>
                </a:tc>
              </a:tr>
              <a:tr h="424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910"/>
                          </a:solidFill>
                          <a:latin typeface="Lexend Deca" pitchFamily="34" charset="0"/>
                          <a:ea typeface="Lexend Deca" pitchFamily="34" charset="-122"/>
                          <a:cs typeface="Lexend Deca" pitchFamily="34" charset="-120"/>
                        </a:rPr>
                        <a:t>Fuerte</a:t>
                      </a:r>
                      <a:endParaRPr lang="en-US" sz="1600" dirty="0">
                        <a:latin typeface="Lexend Deca" charset="0"/>
                        <a:ea typeface="Lexend Deca" charset="0"/>
                        <a:cs typeface="Lexend Deca" charset="0"/>
                      </a:endParaRPr>
                    </a:p>
                  </a:txBody>
                  <a:tcPr marL="152396" marR="152396" marT="63498" marB="63498" anchor="ctr">
                    <a:lnL w="12700" cap="flat" cmpd="sng" algn="ctr">
                      <a:solidFill>
                        <a:srgbClr val="E4F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D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D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910"/>
                          </a:solidFill>
                          <a:latin typeface="Lexend Deca" pitchFamily="34" charset="0"/>
                          <a:ea typeface="Lexend Deca" pitchFamily="34" charset="-122"/>
                          <a:cs typeface="Lexend Deca" pitchFamily="34" charset="-120"/>
                        </a:rPr>
                        <a:t>Cada lectura refleja la escritura más reciente.</a:t>
                      </a:r>
                      <a:endParaRPr lang="en-US" sz="1600" dirty="0">
                        <a:latin typeface="Lexend Deca" charset="0"/>
                        <a:ea typeface="Lexend Deca" charset="0"/>
                        <a:cs typeface="Lexend Deca" charset="0"/>
                      </a:endParaRPr>
                    </a:p>
                  </a:txBody>
                  <a:tcPr marL="152396" marR="152396" marT="63498" marB="63498" anchor="ctr">
                    <a:lnL w="12700" cap="flat" cmpd="sng" algn="ctr">
                      <a:solidFill>
                        <a:srgbClr val="E4F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D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D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860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910"/>
                          </a:solidFill>
                          <a:latin typeface="Lexend Deca" pitchFamily="34" charset="0"/>
                          <a:ea typeface="Lexend Deca" pitchFamily="34" charset="-122"/>
                          <a:cs typeface="Lexend Deca" pitchFamily="34" charset="-120"/>
                        </a:rPr>
                        <a:t>Obsolescencia limitada</a:t>
                      </a:r>
                      <a:endParaRPr lang="en-US" sz="1600" dirty="0">
                        <a:latin typeface="Lexend Deca" charset="0"/>
                        <a:ea typeface="Lexend Deca" charset="0"/>
                        <a:cs typeface="Lexend Deca" charset="0"/>
                      </a:endParaRPr>
                    </a:p>
                  </a:txBody>
                  <a:tcPr marL="152396" marR="152396" marT="63498" marB="63498" anchor="ctr">
                    <a:lnL w="12700" cap="flat" cmpd="sng" algn="ctr">
                      <a:solidFill>
                        <a:srgbClr val="E4F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D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D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910"/>
                          </a:solidFill>
                          <a:latin typeface="Lexend Deca" pitchFamily="34" charset="0"/>
                          <a:ea typeface="Lexend Deca" pitchFamily="34" charset="-122"/>
                          <a:cs typeface="Lexend Deca" pitchFamily="34" charset="-120"/>
                        </a:rPr>
                        <a:t>Las lecturas van por detrás de las escrituras en un intervalo configurable (tiempo o número de versiones).</a:t>
                      </a:r>
                      <a:endParaRPr lang="en-US" sz="1600" dirty="0">
                        <a:latin typeface="Lexend Deca" charset="0"/>
                        <a:ea typeface="Lexend Deca" charset="0"/>
                        <a:cs typeface="Lexend Deca" charset="0"/>
                      </a:endParaRPr>
                    </a:p>
                  </a:txBody>
                  <a:tcPr marL="152396" marR="152396" marT="63498" marB="63498" anchor="ctr">
                    <a:lnL w="12700" cap="flat" cmpd="sng" algn="ctr">
                      <a:solidFill>
                        <a:srgbClr val="E4F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D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D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930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910"/>
                          </a:solidFill>
                          <a:latin typeface="Lexend Deca" pitchFamily="34" charset="0"/>
                          <a:ea typeface="Lexend Deca" pitchFamily="34" charset="-122"/>
                          <a:cs typeface="Lexend Deca" pitchFamily="34" charset="-120"/>
                        </a:rPr>
                        <a:t>Sesión</a:t>
                      </a:r>
                      <a:endParaRPr lang="en-US" sz="1600" dirty="0">
                        <a:latin typeface="Lexend Deca" charset="0"/>
                        <a:ea typeface="Lexend Deca" charset="0"/>
                        <a:cs typeface="Lexend Deca" charset="0"/>
                      </a:endParaRPr>
                    </a:p>
                  </a:txBody>
                  <a:tcPr marL="152396" marR="152396" marT="63498" marB="63498" anchor="ctr">
                    <a:lnL w="12700" cap="flat" cmpd="sng" algn="ctr">
                      <a:solidFill>
                        <a:srgbClr val="E4F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D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D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910"/>
                          </a:solidFill>
                          <a:latin typeface="Lexend Deca" pitchFamily="34" charset="0"/>
                          <a:ea typeface="Lexend Deca" pitchFamily="34" charset="-122"/>
                          <a:cs typeface="Lexend Deca" pitchFamily="34" charset="-120"/>
                        </a:rPr>
                        <a:t>Coherencia garantizada dentro de una sesión de cliente; el nivel más usado y punto de partida recomendado.</a:t>
                      </a:r>
                      <a:endParaRPr lang="en-US" sz="1600" dirty="0">
                        <a:latin typeface="Lexend Deca" charset="0"/>
                        <a:ea typeface="Lexend Deca" charset="0"/>
                        <a:cs typeface="Lexend Deca" charset="0"/>
                      </a:endParaRPr>
                    </a:p>
                  </a:txBody>
                  <a:tcPr marL="152396" marR="152396" marT="63498" marB="63498" anchor="ctr">
                    <a:lnL w="12700" cap="flat" cmpd="sng" algn="ctr">
                      <a:solidFill>
                        <a:srgbClr val="E4F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D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D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860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910"/>
                          </a:solidFill>
                          <a:latin typeface="Lexend Deca" pitchFamily="34" charset="0"/>
                          <a:ea typeface="Lexend Deca" pitchFamily="34" charset="-122"/>
                          <a:cs typeface="Lexend Deca" pitchFamily="34" charset="-120"/>
                        </a:rPr>
                        <a:t>Prefijo coherente</a:t>
                      </a:r>
                      <a:endParaRPr lang="en-US" sz="1600" dirty="0">
                        <a:latin typeface="Lexend Deca" charset="0"/>
                        <a:ea typeface="Lexend Deca" charset="0"/>
                        <a:cs typeface="Lexend Deca" charset="0"/>
                      </a:endParaRPr>
                    </a:p>
                  </a:txBody>
                  <a:tcPr marL="152396" marR="152396" marT="63498" marB="63498" anchor="ctr">
                    <a:lnL w="12700" cap="flat" cmpd="sng" algn="ctr">
                      <a:solidFill>
                        <a:srgbClr val="E4F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D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D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910"/>
                          </a:solidFill>
                          <a:latin typeface="Lexend Deca" pitchFamily="34" charset="0"/>
                          <a:ea typeface="Lexend Deca" pitchFamily="34" charset="-122"/>
                          <a:cs typeface="Lexend Deca" pitchFamily="34" charset="-120"/>
                        </a:rPr>
                        <a:t>Las lecturas nunca ven escrituras desordenadas, pero pueden ver datos obsoletos.</a:t>
                      </a:r>
                      <a:endParaRPr lang="en-US" sz="1600" dirty="0">
                        <a:latin typeface="Lexend Deca" charset="0"/>
                        <a:ea typeface="Lexend Deca" charset="0"/>
                        <a:cs typeface="Lexend Deca" charset="0"/>
                      </a:endParaRPr>
                    </a:p>
                  </a:txBody>
                  <a:tcPr marL="152396" marR="152396" marT="63498" marB="63498" anchor="ctr">
                    <a:lnL w="12700" cap="flat" cmpd="sng" algn="ctr">
                      <a:solidFill>
                        <a:srgbClr val="E4F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D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D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590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910"/>
                          </a:solidFill>
                          <a:latin typeface="Lexend Deca" pitchFamily="34" charset="0"/>
                          <a:ea typeface="Lexend Deca" pitchFamily="34" charset="-122"/>
                          <a:cs typeface="Lexend Deca" pitchFamily="34" charset="-120"/>
                        </a:rPr>
                        <a:t>Eventual</a:t>
                      </a:r>
                      <a:endParaRPr lang="en-US" sz="1600" dirty="0">
                        <a:latin typeface="Lexend Deca" charset="0"/>
                        <a:ea typeface="Lexend Deca" charset="0"/>
                        <a:cs typeface="Lexend Deca" charset="0"/>
                      </a:endParaRPr>
                    </a:p>
                  </a:txBody>
                  <a:tcPr marL="152396" marR="152396" marT="63498" marB="63498" anchor="ctr">
                    <a:lnL w="12700" cap="flat" cmpd="sng" algn="ctr">
                      <a:solidFill>
                        <a:srgbClr val="E4F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D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F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910"/>
                          </a:solidFill>
                          <a:latin typeface="Lexend Deca" pitchFamily="34" charset="0"/>
                          <a:ea typeface="Lexend Deca" pitchFamily="34" charset="-122"/>
                          <a:cs typeface="Lexend Deca" pitchFamily="34" charset="-120"/>
                        </a:rPr>
                        <a:t>Las réplicas convergen con el tiempo; garantía más débil, mayor disponibilidad.</a:t>
                      </a:r>
                      <a:endParaRPr lang="en-US" sz="1600" dirty="0">
                        <a:latin typeface="Lexend Deca" charset="0"/>
                        <a:ea typeface="Lexend Deca" charset="0"/>
                        <a:cs typeface="Lexend Deca" charset="0"/>
                      </a:endParaRPr>
                    </a:p>
                  </a:txBody>
                  <a:tcPr marL="152396" marR="152396" marT="63498" marB="63498" anchor="ctr">
                    <a:lnL w="12700" cap="flat" cmpd="sng" algn="ctr">
                      <a:solidFill>
                        <a:srgbClr val="E4F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F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D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F6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89589" y="1769070"/>
            <a:ext cx="2414726" cy="341669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989589" y="5276652"/>
            <a:ext cx="264332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A5937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Percentil 99</a:t>
            </a:r>
            <a:endParaRPr lang="en-US" sz="1250" dirty="0"/>
          </a:p>
        </p:txBody>
      </p:sp>
      <p:sp>
        <p:nvSpPr>
          <p:cNvPr id="7" name="Text 3"/>
          <p:cNvSpPr/>
          <p:nvPr/>
        </p:nvSpPr>
        <p:spPr>
          <a:xfrm>
            <a:off x="8989589" y="5603280"/>
            <a:ext cx="2414726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spc="16" kern="100" dirty="0">
                <a:solidFill>
                  <a:srgbClr val="1B2910"/>
                </a:solidFill>
                <a:latin typeface="Ubuntu Mono" pitchFamily="34" charset="0"/>
                <a:ea typeface="Ubuntu Mono" pitchFamily="34" charset="-122"/>
                <a:cs typeface="Ubuntu Mono" pitchFamily="34" charset="-120"/>
              </a:rPr>
              <a:t>Lecturas ≈ 4 ms</a:t>
            </a:r>
            <a:endParaRPr lang="en-US" sz="16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600" spc="16" kern="100" dirty="0">
                <a:solidFill>
                  <a:srgbClr val="1B2910"/>
                </a:solidFill>
                <a:latin typeface="Ubuntu Mono" pitchFamily="34" charset="0"/>
                <a:ea typeface="Ubuntu Mono" pitchFamily="34" charset="-122"/>
                <a:cs typeface="Ubuntu Mono" pitchFamily="34" charset="-120"/>
              </a:rPr>
              <a:t>Escrituras ≈ 5 ms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4F6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455930"/>
            <a:ext cx="10972526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b="1" spc="-45" kern="100" dirty="0">
                <a:solidFill>
                  <a:srgbClr val="1B2910"/>
                </a:solidFill>
                <a:latin typeface="Aleo Bold" pitchFamily="34" charset="0"/>
                <a:ea typeface="Aleo Bold" pitchFamily="34" charset="-122"/>
                <a:cs typeface="Aleo Bold" pitchFamily="34" charset="-120"/>
              </a:rPr>
              <a:t>El rendimiento se mide en RU/s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09585" y="1064240"/>
            <a:ext cx="11582110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1B291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Una RU/s equivale aproximadamente al costo de leer un elemento de 1 KB.</a:t>
            </a:r>
            <a:endParaRPr lang="en-US" sz="1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179" y="1756370"/>
            <a:ext cx="3748887" cy="442853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272749" y="1756370"/>
            <a:ext cx="63498" cy="948234"/>
          </a:xfrm>
          <a:prstGeom prst="rect">
            <a:avLst/>
          </a:prstGeom>
          <a:solidFill>
            <a:srgbClr val="1F3E8C"/>
          </a:solidFill>
          <a:ln/>
        </p:spPr>
      </p:sp>
      <p:sp>
        <p:nvSpPr>
          <p:cNvPr id="6" name="Text 3"/>
          <p:cNvSpPr/>
          <p:nvPr/>
        </p:nvSpPr>
        <p:spPr>
          <a:xfrm>
            <a:off x="5564842" y="1870035"/>
            <a:ext cx="5788674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dirty="0">
                <a:solidFill>
                  <a:srgbClr val="1B2910"/>
                </a:solidFill>
                <a:latin typeface="Lexend Deca Medium" pitchFamily="34" charset="0"/>
                <a:ea typeface="Lexend Deca Medium" pitchFamily="34" charset="-122"/>
                <a:cs typeface="Lexend Deca Medium" pitchFamily="34" charset="-120"/>
              </a:rPr>
              <a:t>Dedicado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5564842" y="2322731"/>
            <a:ext cx="6017268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1B291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Reservado para un único contenedor.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272749" y="3009404"/>
            <a:ext cx="63498" cy="1232793"/>
          </a:xfrm>
          <a:prstGeom prst="rect">
            <a:avLst/>
          </a:prstGeom>
          <a:solidFill>
            <a:srgbClr val="F2A01C"/>
          </a:solidFill>
          <a:ln/>
        </p:spPr>
      </p:sp>
      <p:sp>
        <p:nvSpPr>
          <p:cNvPr id="9" name="Text 6"/>
          <p:cNvSpPr/>
          <p:nvPr/>
        </p:nvSpPr>
        <p:spPr>
          <a:xfrm>
            <a:off x="5564842" y="3123069"/>
            <a:ext cx="5788674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dirty="0">
                <a:solidFill>
                  <a:srgbClr val="1B2910"/>
                </a:solidFill>
                <a:latin typeface="Lexend Deca Medium" pitchFamily="34" charset="0"/>
                <a:ea typeface="Lexend Deca Medium" pitchFamily="34" charset="-122"/>
                <a:cs typeface="Lexend Deca Medium" pitchFamily="34" charset="-120"/>
              </a:rPr>
              <a:t>Compartido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5564842" y="3575764"/>
            <a:ext cx="5788674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1B291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nivel de base de datos, entre un máximo de 25 contenedores.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272749" y="4546997"/>
            <a:ext cx="63498" cy="948333"/>
          </a:xfrm>
          <a:prstGeom prst="rect">
            <a:avLst/>
          </a:prstGeom>
          <a:solidFill>
            <a:srgbClr val="7A2C6C"/>
          </a:solidFill>
          <a:ln/>
        </p:spPr>
      </p:sp>
      <p:sp>
        <p:nvSpPr>
          <p:cNvPr id="12" name="Text 9"/>
          <p:cNvSpPr/>
          <p:nvPr/>
        </p:nvSpPr>
        <p:spPr>
          <a:xfrm>
            <a:off x="5564842" y="4660662"/>
            <a:ext cx="5788674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dirty="0">
                <a:solidFill>
                  <a:srgbClr val="1B2910"/>
                </a:solidFill>
                <a:latin typeface="Lexend Deca Medium" pitchFamily="34" charset="0"/>
                <a:ea typeface="Lexend Deca Medium" pitchFamily="34" charset="-122"/>
                <a:cs typeface="Lexend Deca Medium" pitchFamily="34" charset="-120"/>
              </a:rPr>
              <a:t>Sin servidor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5564842" y="5113357"/>
            <a:ext cx="6017268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1B291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Pago por solicitud; limitado a una región.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272749" y="5621060"/>
            <a:ext cx="6309361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1B291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Con escalabilidad automática se fija un máximo de RU/s y Cosmos DB ajusta la capacidad.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4F6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1030"/>
            <a:ext cx="10972526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b="1" spc="-45" kern="100" dirty="0">
                <a:solidFill>
                  <a:srgbClr val="1B2910"/>
                </a:solidFill>
                <a:latin typeface="Aleo Bold" pitchFamily="34" charset="0"/>
                <a:ea typeface="Aleo Bold" pitchFamily="34" charset="-122"/>
                <a:cs typeface="Aleo Bold" pitchFamily="34" charset="-120"/>
              </a:rPr>
              <a:t>Cuándo usar Cosmos DB, y cuándo no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09585" y="1224260"/>
            <a:ext cx="6309262" cy="76200"/>
          </a:xfrm>
          <a:prstGeom prst="rect">
            <a:avLst/>
          </a:prstGeom>
          <a:solidFill>
            <a:srgbClr val="1F3E8C"/>
          </a:solidFill>
          <a:ln/>
        </p:spPr>
      </p:sp>
      <p:sp>
        <p:nvSpPr>
          <p:cNvPr id="4" name="Shape 2"/>
          <p:cNvSpPr/>
          <p:nvPr/>
        </p:nvSpPr>
        <p:spPr>
          <a:xfrm>
            <a:off x="609585" y="1579860"/>
            <a:ext cx="1370077" cy="254000"/>
          </a:xfrm>
          <a:prstGeom prst="roundRect">
            <a:avLst>
              <a:gd name="adj" fmla="val 49999"/>
            </a:avLst>
          </a:prstGeom>
          <a:solidFill>
            <a:srgbClr val="1F3E8C"/>
          </a:solidFill>
          <a:ln/>
        </p:spPr>
      </p:sp>
      <p:sp>
        <p:nvSpPr>
          <p:cNvPr id="5" name="Text 3"/>
          <p:cNvSpPr/>
          <p:nvPr/>
        </p:nvSpPr>
        <p:spPr>
          <a:xfrm>
            <a:off x="736582" y="1629110"/>
            <a:ext cx="1725669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300" spc="26" kern="100" dirty="0">
                <a:solidFill>
                  <a:srgbClr val="FFFFFF"/>
                </a:solidFill>
                <a:latin typeface="Ubuntu Mono" pitchFamily="34" charset="0"/>
                <a:ea typeface="Ubuntu Mono" pitchFamily="34" charset="-122"/>
                <a:cs typeface="Ubuntu Mono" pitchFamily="34" charset="-120"/>
              </a:rPr>
              <a:t>Cuándo usarlo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09585" y="1954510"/>
            <a:ext cx="6309262" cy="21436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1B291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IoT y telemetría con ingesta rápida de datos de dispositivos.</a:t>
            </a:r>
            <a:endParaRPr lang="en-US" sz="1600" dirty="0"/>
          </a:p>
          <a:p>
            <a:pPr algn="l" marL="325120" indent="-325120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1B291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Juegos con perfiles, clasificaciones y estadísticas en milisegundos.</a:t>
            </a:r>
            <a:endParaRPr lang="en-US" sz="1600" dirty="0"/>
          </a:p>
          <a:p>
            <a:pPr algn="l" marL="325120" indent="-325120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1B291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Comercio electrónico con catálogos, carros y pedidos a cualquier escala.</a:t>
            </a:r>
            <a:endParaRPr lang="en-US" sz="1600" dirty="0"/>
          </a:p>
          <a:p>
            <a:pPr algn="l" marL="325120" indent="-325120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1B291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Aplicaciones web y móviles con personalización y funciones sociales.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75936" y="1224260"/>
            <a:ext cx="4206174" cy="5024140"/>
          </a:xfrm>
          <a:prstGeom prst="rect">
            <a:avLst/>
          </a:prstGeom>
          <a:solidFill>
            <a:srgbClr val="E0DBAC"/>
          </a:solidFill>
          <a:ln/>
        </p:spPr>
      </p:sp>
      <p:sp>
        <p:nvSpPr>
          <p:cNvPr id="8" name="Shape 6"/>
          <p:cNvSpPr/>
          <p:nvPr/>
        </p:nvSpPr>
        <p:spPr>
          <a:xfrm>
            <a:off x="7680728" y="1529060"/>
            <a:ext cx="1026690" cy="254000"/>
          </a:xfrm>
          <a:prstGeom prst="roundRect">
            <a:avLst>
              <a:gd name="adj" fmla="val 49999"/>
            </a:avLst>
          </a:prstGeom>
          <a:solidFill>
            <a:srgbClr val="C9281C"/>
          </a:solidFill>
          <a:ln/>
        </p:spPr>
      </p:sp>
      <p:sp>
        <p:nvSpPr>
          <p:cNvPr id="9" name="Text 7"/>
          <p:cNvSpPr/>
          <p:nvPr/>
        </p:nvSpPr>
        <p:spPr>
          <a:xfrm>
            <a:off x="7807725" y="1578310"/>
            <a:ext cx="1382281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300" spc="26" kern="100" dirty="0">
                <a:solidFill>
                  <a:srgbClr val="FFFFFF"/>
                </a:solidFill>
                <a:latin typeface="Ubuntu Mono" pitchFamily="34" charset="0"/>
                <a:ea typeface="Ubuntu Mono" pitchFamily="34" charset="-122"/>
                <a:cs typeface="Ubuntu Mono" pitchFamily="34" charset="-120"/>
              </a:rPr>
              <a:t>Cuándo no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680728" y="1877675"/>
            <a:ext cx="3596590" cy="627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Lexend Deca Medium" pitchFamily="34" charset="0"/>
                <a:ea typeface="Lexend Deca Medium" pitchFamily="34" charset="-122"/>
                <a:cs typeface="Lexend Deca Medium" pitchFamily="34" charset="-120"/>
              </a:rPr>
              <a:t>Combinaciones complejas de varias tablas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680728" y="2644001"/>
            <a:ext cx="3901382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Azure SQL Database.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680728" y="3119596"/>
            <a:ext cx="3596590" cy="627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Lexend Deca Medium" pitchFamily="34" charset="0"/>
                <a:ea typeface="Lexend Deca Medium" pitchFamily="34" charset="-122"/>
                <a:cs typeface="Lexend Deca Medium" pitchFamily="34" charset="-120"/>
              </a:rPr>
              <a:t>Análisis histórico a gran escala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680728" y="3885922"/>
            <a:ext cx="3596590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Microsoft Fabric o Azure Synapse Analytics.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4F6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1030"/>
            <a:ext cx="10972526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b="1" spc="-45" kern="100" dirty="0">
                <a:solidFill>
                  <a:srgbClr val="1B2910"/>
                </a:solidFill>
                <a:latin typeface="Aleo Bold" pitchFamily="34" charset="0"/>
                <a:ea typeface="Aleo Bold" pitchFamily="34" charset="-122"/>
                <a:cs typeface="Aleo Bold" pitchFamily="34" charset="-120"/>
              </a:rPr>
              <a:t>Cinco API para elegir según tu modelo de datos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09585" y="1229340"/>
            <a:ext cx="11582110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1B291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La API elegida determina el formato de datos, el lenguaje de consulta y las bibliotecas cliente.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09585" y="3107134"/>
            <a:ext cx="3454314" cy="1205111"/>
          </a:xfrm>
          <a:prstGeom prst="rect">
            <a:avLst/>
          </a:prstGeom>
          <a:solidFill>
            <a:srgbClr val="CADEBB"/>
          </a:solidFill>
          <a:ln/>
        </p:spPr>
      </p:sp>
      <p:sp>
        <p:nvSpPr>
          <p:cNvPr id="5" name="Text 3"/>
          <p:cNvSpPr/>
          <p:nvPr/>
        </p:nvSpPr>
        <p:spPr>
          <a:xfrm>
            <a:off x="838179" y="3347799"/>
            <a:ext cx="2997125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Lexend Deca Medium" pitchFamily="34" charset="0"/>
                <a:ea typeface="Lexend Deca Medium" pitchFamily="34" charset="-122"/>
                <a:cs typeface="Lexend Deca Medium" pitchFamily="34" charset="-120"/>
              </a:rPr>
              <a:t>NoSQL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38179" y="3782080"/>
            <a:ext cx="2997125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Lexend Deca Medium" pitchFamily="34" charset="0"/>
                <a:ea typeface="Lexend Deca Medium" pitchFamily="34" charset="-122"/>
                <a:cs typeface="Lexend Deca Medium" pitchFamily="34" charset="-120"/>
              </a:rPr>
              <a:t>MongoDB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368691" y="3107134"/>
            <a:ext cx="3454314" cy="1205111"/>
          </a:xfrm>
          <a:prstGeom prst="rect">
            <a:avLst/>
          </a:prstGeom>
          <a:solidFill>
            <a:srgbClr val="E3E6A9"/>
          </a:solidFill>
          <a:ln/>
        </p:spPr>
      </p:sp>
      <p:sp>
        <p:nvSpPr>
          <p:cNvPr id="8" name="Text 6"/>
          <p:cNvSpPr/>
          <p:nvPr/>
        </p:nvSpPr>
        <p:spPr>
          <a:xfrm>
            <a:off x="4597285" y="3347799"/>
            <a:ext cx="2997125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Lexend Deca Medium" pitchFamily="34" charset="0"/>
                <a:ea typeface="Lexend Deca Medium" pitchFamily="34" charset="-122"/>
                <a:cs typeface="Lexend Deca Medium" pitchFamily="34" charset="-120"/>
              </a:rPr>
              <a:t>Table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597285" y="3782080"/>
            <a:ext cx="2997125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Lexend Deca Medium" pitchFamily="34" charset="0"/>
                <a:ea typeface="Lexend Deca Medium" pitchFamily="34" charset="-122"/>
                <a:cs typeface="Lexend Deca Medium" pitchFamily="34" charset="-120"/>
              </a:rPr>
              <a:t>Apache Cassandra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8127797" y="3107134"/>
            <a:ext cx="3454314" cy="1205111"/>
          </a:xfrm>
          <a:prstGeom prst="rect">
            <a:avLst/>
          </a:prstGeom>
          <a:solidFill>
            <a:srgbClr val="D6DCB7"/>
          </a:solidFill>
          <a:ln/>
        </p:spPr>
      </p:sp>
      <p:sp>
        <p:nvSpPr>
          <p:cNvPr id="11" name="Text 9"/>
          <p:cNvSpPr/>
          <p:nvPr/>
        </p:nvSpPr>
        <p:spPr>
          <a:xfrm>
            <a:off x="8356391" y="3347799"/>
            <a:ext cx="2997125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Lexend Deca Medium" pitchFamily="34" charset="0"/>
                <a:ea typeface="Lexend Deca Medium" pitchFamily="34" charset="-122"/>
                <a:cs typeface="Lexend Deca Medium" pitchFamily="34" charset="-120"/>
              </a:rPr>
              <a:t>Apache Gremlin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09585" y="5916692"/>
            <a:ext cx="11582110" cy="337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00" dirty="0">
                <a:solidFill>
                  <a:srgbClr val="1B291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La ventaja principal es la portabilidad con cambios mínimos de código.</a:t>
            </a:r>
            <a:endParaRPr lang="en-US" sz="1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4F6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1030"/>
            <a:ext cx="10972526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b="1" spc="-45" kern="100" dirty="0">
                <a:solidFill>
                  <a:srgbClr val="1B2910"/>
                </a:solidFill>
                <a:latin typeface="Aleo Bold" pitchFamily="34" charset="0"/>
                <a:ea typeface="Aleo Bold" pitchFamily="34" charset="-122"/>
                <a:cs typeface="Aleo Bold" pitchFamily="34" charset="-120"/>
              </a:rPr>
              <a:t>NoSQL y MongoDB: documentos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09585" y="2114649"/>
            <a:ext cx="5257668" cy="76200"/>
          </a:xfrm>
          <a:prstGeom prst="rect">
            <a:avLst/>
          </a:prstGeom>
          <a:solidFill>
            <a:srgbClr val="1F3E8C"/>
          </a:solidFill>
          <a:ln/>
        </p:spPr>
      </p:sp>
      <p:sp>
        <p:nvSpPr>
          <p:cNvPr id="4" name="Shape 2"/>
          <p:cNvSpPr/>
          <p:nvPr/>
        </p:nvSpPr>
        <p:spPr>
          <a:xfrm>
            <a:off x="609585" y="2495649"/>
            <a:ext cx="683302" cy="254000"/>
          </a:xfrm>
          <a:prstGeom prst="roundRect">
            <a:avLst>
              <a:gd name="adj" fmla="val 49999"/>
            </a:avLst>
          </a:prstGeom>
          <a:solidFill>
            <a:srgbClr val="1F3E8C"/>
          </a:solidFill>
          <a:ln/>
        </p:spPr>
      </p:sp>
      <p:sp>
        <p:nvSpPr>
          <p:cNvPr id="5" name="Text 3"/>
          <p:cNvSpPr/>
          <p:nvPr/>
        </p:nvSpPr>
        <p:spPr>
          <a:xfrm>
            <a:off x="736582" y="2544899"/>
            <a:ext cx="1038894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300" spc="26" kern="100" dirty="0">
                <a:solidFill>
                  <a:srgbClr val="FFFFFF"/>
                </a:solidFill>
                <a:latin typeface="Ubuntu Mono" pitchFamily="34" charset="0"/>
                <a:ea typeface="Ubuntu Mono" pitchFamily="34" charset="-122"/>
                <a:cs typeface="Ubuntu Mono" pitchFamily="34" charset="-120"/>
              </a:rPr>
              <a:t>NoSQL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09585" y="2870299"/>
            <a:ext cx="5257668" cy="1290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1B291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API nativa, antes API de SQL.</a:t>
            </a:r>
            <a:endParaRPr lang="en-US" sz="1600" dirty="0"/>
          </a:p>
          <a:p>
            <a:pPr algn="l" marL="325120" indent="-325120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1B291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Documentos JSON y sintaxis similar a SQL.</a:t>
            </a:r>
            <a:endParaRPr lang="en-US" sz="1600" dirty="0"/>
          </a:p>
          <a:p>
            <a:pPr algn="l" marL="325120" indent="-325120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1B291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Recomendada para nuevas aplicaciones.</a:t>
            </a:r>
            <a:endParaRPr lang="en-US" sz="1600" dirty="0"/>
          </a:p>
          <a:p>
            <a:pPr algn="l" marL="325120" indent="-325120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1B291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Admite duplicación de Fabric.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09585" y="4286270"/>
            <a:ext cx="5257668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1B2910"/>
                </a:solidFill>
                <a:highlight>
                  <a:srgbClr val="D3EDA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customers c</a:t>
            </a:r>
            <a:endParaRPr lang="en-US" sz="16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1B2910"/>
                </a:solidFill>
                <a:highlight>
                  <a:srgbClr val="D3EDA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WHERE c.id = "joe@litware.com"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324442" y="2114649"/>
            <a:ext cx="5257668" cy="76200"/>
          </a:xfrm>
          <a:prstGeom prst="rect">
            <a:avLst/>
          </a:prstGeom>
          <a:solidFill>
            <a:srgbClr val="7A2C6C"/>
          </a:solidFill>
          <a:ln/>
        </p:spPr>
      </p:sp>
      <p:sp>
        <p:nvSpPr>
          <p:cNvPr id="9" name="Shape 7"/>
          <p:cNvSpPr/>
          <p:nvPr/>
        </p:nvSpPr>
        <p:spPr>
          <a:xfrm>
            <a:off x="6324442" y="2495649"/>
            <a:ext cx="854947" cy="254000"/>
          </a:xfrm>
          <a:prstGeom prst="roundRect">
            <a:avLst>
              <a:gd name="adj" fmla="val 49999"/>
            </a:avLst>
          </a:prstGeom>
          <a:solidFill>
            <a:srgbClr val="7A2C6C"/>
          </a:solidFill>
          <a:ln/>
        </p:spPr>
      </p:sp>
      <p:sp>
        <p:nvSpPr>
          <p:cNvPr id="10" name="Text 8"/>
          <p:cNvSpPr/>
          <p:nvPr/>
        </p:nvSpPr>
        <p:spPr>
          <a:xfrm>
            <a:off x="6451439" y="2544899"/>
            <a:ext cx="1210538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300" spc="26" kern="100" dirty="0">
                <a:solidFill>
                  <a:srgbClr val="FFFFFF"/>
                </a:solidFill>
                <a:latin typeface="Ubuntu Mono" pitchFamily="34" charset="0"/>
                <a:ea typeface="Ubuntu Mono" pitchFamily="34" charset="-122"/>
                <a:cs typeface="Ubuntu Mono" pitchFamily="34" charset="-120"/>
              </a:rPr>
              <a:t>MongoDB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24442" y="2870299"/>
            <a:ext cx="5257668" cy="954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1B291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Compatible con controladores de MongoDB.</a:t>
            </a:r>
            <a:endParaRPr lang="en-US" sz="1600" dirty="0"/>
          </a:p>
          <a:p>
            <a:pPr algn="l" marL="325120" indent="-325120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1B291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Datos en BSON.</a:t>
            </a:r>
            <a:endParaRPr lang="en-US" sz="1600" dirty="0"/>
          </a:p>
          <a:p>
            <a:pPr algn="l" marL="325120" indent="-325120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1B291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Consultas MQL.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24442" y="3951010"/>
            <a:ext cx="5257668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1B2910"/>
                </a:solidFill>
                <a:highlight>
                  <a:srgbClr val="D3EDA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db.products.find({id: 123})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4F6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1030"/>
            <a:ext cx="10972526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b="1" spc="-45" kern="100" dirty="0">
                <a:solidFill>
                  <a:srgbClr val="1B2910"/>
                </a:solidFill>
                <a:latin typeface="Aleo Bold" pitchFamily="34" charset="0"/>
                <a:ea typeface="Aleo Bold" pitchFamily="34" charset="-122"/>
                <a:cs typeface="Aleo Bold" pitchFamily="34" charset="-120"/>
              </a:rPr>
              <a:t>Table y Cassandra: clave/valor y familia de columnas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09585" y="2371130"/>
            <a:ext cx="5257668" cy="2527201"/>
          </a:xfrm>
          <a:prstGeom prst="rect">
            <a:avLst/>
          </a:prstGeom>
          <a:solidFill>
            <a:srgbClr val="CADEBB"/>
          </a:solidFill>
          <a:ln/>
        </p:spPr>
      </p:sp>
      <p:sp>
        <p:nvSpPr>
          <p:cNvPr id="4" name="Shape 2"/>
          <p:cNvSpPr/>
          <p:nvPr/>
        </p:nvSpPr>
        <p:spPr>
          <a:xfrm>
            <a:off x="914377" y="2675930"/>
            <a:ext cx="683302" cy="254000"/>
          </a:xfrm>
          <a:prstGeom prst="roundRect">
            <a:avLst>
              <a:gd name="adj" fmla="val 49999"/>
            </a:avLst>
          </a:prstGeom>
          <a:solidFill>
            <a:srgbClr val="1F3E8C"/>
          </a:solidFill>
          <a:ln/>
        </p:spPr>
      </p:sp>
      <p:sp>
        <p:nvSpPr>
          <p:cNvPr id="5" name="Text 3"/>
          <p:cNvSpPr/>
          <p:nvPr/>
        </p:nvSpPr>
        <p:spPr>
          <a:xfrm>
            <a:off x="1041374" y="2725180"/>
            <a:ext cx="1038894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300" spc="26" kern="100" dirty="0">
                <a:solidFill>
                  <a:srgbClr val="FFFFFF"/>
                </a:solidFill>
                <a:latin typeface="Ubuntu Mono" pitchFamily="34" charset="0"/>
                <a:ea typeface="Ubuntu Mono" pitchFamily="34" charset="-122"/>
                <a:cs typeface="Ubuntu Mono" pitchFamily="34" charset="-120"/>
              </a:rPr>
              <a:t>Table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377" y="3050580"/>
            <a:ext cx="4648084" cy="1542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Pares clave/valor con PartitionKey y RowKey.</a:t>
            </a:r>
            <a:endParaRPr lang="en-US" sz="16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Frente a Table Storage, ofrece más escalabilidad, distribución global, índices secundarios automáticos y escalabilidad automática.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324442" y="2371130"/>
            <a:ext cx="5257668" cy="2527201"/>
          </a:xfrm>
          <a:prstGeom prst="rect">
            <a:avLst/>
          </a:prstGeom>
          <a:solidFill>
            <a:srgbClr val="E3E6A9"/>
          </a:solidFill>
          <a:ln/>
        </p:spPr>
      </p:sp>
      <p:sp>
        <p:nvSpPr>
          <p:cNvPr id="8" name="Shape 6"/>
          <p:cNvSpPr/>
          <p:nvPr/>
        </p:nvSpPr>
        <p:spPr>
          <a:xfrm>
            <a:off x="6629234" y="2675930"/>
            <a:ext cx="1026690" cy="254000"/>
          </a:xfrm>
          <a:prstGeom prst="roundRect">
            <a:avLst>
              <a:gd name="adj" fmla="val 49999"/>
            </a:avLst>
          </a:prstGeom>
          <a:solidFill>
            <a:srgbClr val="F2A01C"/>
          </a:solidFill>
          <a:ln/>
        </p:spPr>
      </p:sp>
      <p:sp>
        <p:nvSpPr>
          <p:cNvPr id="9" name="Text 7"/>
          <p:cNvSpPr/>
          <p:nvPr/>
        </p:nvSpPr>
        <p:spPr>
          <a:xfrm>
            <a:off x="6756231" y="2725180"/>
            <a:ext cx="1382281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300" spc="26" kern="100" dirty="0">
                <a:solidFill>
                  <a:srgbClr val="000000"/>
                </a:solidFill>
                <a:latin typeface="Ubuntu Mono" pitchFamily="34" charset="0"/>
                <a:ea typeface="Ubuntu Mono" pitchFamily="34" charset="-122"/>
                <a:cs typeface="Ubuntu Mono" pitchFamily="34" charset="-120"/>
              </a:rPr>
              <a:t>Cassandra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629234" y="3050580"/>
            <a:ext cx="4648084" cy="1379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Modelo de familia de columnas: las filas no comparten las mismas columnas.</a:t>
            </a:r>
            <a:endParaRPr lang="en-US" sz="1600" dirty="0"/>
          </a:p>
          <a:p>
            <a:pPr algn="l" indent="0" marL="0">
              <a:lnSpc>
                <a:spcPct val="1170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Consultas CQL.</a:t>
            </a:r>
            <a:endParaRPr lang="en-US" sz="16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D3EDA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Employees WHERE ID = 2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4F6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70230"/>
            <a:ext cx="10972526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b="1" spc="-45" kern="100" dirty="0">
                <a:solidFill>
                  <a:srgbClr val="1B2910"/>
                </a:solidFill>
                <a:latin typeface="Aleo Bold" pitchFamily="34" charset="0"/>
                <a:ea typeface="Aleo Bold" pitchFamily="34" charset="-122"/>
                <a:cs typeface="Aleo Bold" pitchFamily="34" charset="-120"/>
              </a:rPr>
              <a:t>Gremlin modela relaciones como grafos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09585" y="2442270"/>
            <a:ext cx="1455900" cy="254000"/>
          </a:xfrm>
          <a:prstGeom prst="roundRect">
            <a:avLst>
              <a:gd name="adj" fmla="val 49999"/>
            </a:avLst>
          </a:prstGeom>
          <a:solidFill>
            <a:srgbClr val="7A2C6C"/>
          </a:solidFill>
          <a:ln/>
        </p:spPr>
      </p:sp>
      <p:sp>
        <p:nvSpPr>
          <p:cNvPr id="4" name="Text 2"/>
          <p:cNvSpPr/>
          <p:nvPr/>
        </p:nvSpPr>
        <p:spPr>
          <a:xfrm>
            <a:off x="736582" y="2491519"/>
            <a:ext cx="1811491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300" spc="26" kern="100" dirty="0">
                <a:solidFill>
                  <a:srgbClr val="FFFFFF"/>
                </a:solidFill>
                <a:latin typeface="Ubuntu Mono" pitchFamily="34" charset="0"/>
                <a:ea typeface="Ubuntu Mono" pitchFamily="34" charset="-122"/>
                <a:cs typeface="Ubuntu Mono" pitchFamily="34" charset="-120"/>
              </a:rPr>
              <a:t>Apache Gremlin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09585" y="2816920"/>
            <a:ext cx="5257668" cy="1808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1B291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Entidades como vértices y relaciones como aristas.</a:t>
            </a:r>
            <a:endParaRPr lang="en-US" sz="1600" dirty="0"/>
          </a:p>
          <a:p>
            <a:pPr algn="l" marL="325120" indent="-325120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1B291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Útil para redes sociales, motores de recomendaciones, detección de fraudes y jerarquías organizativas.</a:t>
            </a:r>
            <a:endParaRPr lang="en-US" sz="1600" dirty="0"/>
          </a:p>
          <a:p>
            <a:pPr algn="l" marL="325120" indent="-325120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1B291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Gremlin recorre y manipula los datos del grafo.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09585" y="4751010"/>
            <a:ext cx="5257668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1B2910"/>
                </a:solidFill>
                <a:highlight>
                  <a:srgbClr val="D3EDA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g.V().hasLabel('employee').order().by('id')</a:t>
            </a:r>
            <a:endParaRPr lang="en-US" sz="16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53036" y="1402060"/>
            <a:ext cx="4800480" cy="46685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2026-10-17T17:35:03Z</dcterms:created>
  <dcterms:modified xsi:type="dcterms:W3CDTF">2026-10-17T17:35:03Z</dcterms:modified>
</cp:coreProperties>
</file>