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Ledger"/>
      <p:regular r:id="rId201314"/>
    </p:embeddedFont>
    <p:embeddedFont>
      <p:font typeface="Mozilla Text"/>
      <p:regular r:id="rId201315"/>
    </p:embeddedFont>
    <p:embeddedFont>
      <p:font typeface="Mozilla Tex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648029"/>
            <a:ext cx="10769331" cy="1386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Análisis de datos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en Azure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1182" y="4195366"/>
            <a:ext cx="3553828" cy="38100"/>
          </a:xfrm>
          <a:prstGeom prst="roundRect">
            <a:avLst>
              <a:gd name="adj" fmla="val 49999"/>
            </a:avLst>
          </a:prstGeom>
          <a:solidFill>
            <a:srgbClr val="FF8A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Dos plataformas de análisis en Azure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955211"/>
            <a:ext cx="510527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Microsoft Fabric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3409156"/>
            <a:ext cx="548626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Plataforma SaaS unificada sobre OneLake.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830141"/>
            <a:ext cx="510527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Ingeniería de datos, almacenamiento, tiempo real, ciencia de datos y Power BI.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76838" y="2955211"/>
            <a:ext cx="510527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Azure Databricks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76838" y="3409156"/>
            <a:ext cx="51052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Plataforma basada en Apache Spark y Delta Lake.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76838" y="4143177"/>
            <a:ext cx="510527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Flujos centrados en código y cuadernos.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89498" y="2950766"/>
            <a:ext cx="12700" cy="1459409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0" name="Text 8"/>
          <p:cNvSpPr/>
          <p:nvPr/>
        </p:nvSpPr>
        <p:spPr>
          <a:xfrm>
            <a:off x="11554528" y="6444952"/>
            <a:ext cx="63716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Análisis a gran escala: BI más macrodatos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3855643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El almacenamiento convencional copia datos transaccionales a una base relacional optimizada para consultar.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Los macrodatos llegan por lotes o en flujos a un lago, procesado con motores como Apache Spark.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9585" y="3328789"/>
            <a:ext cx="3855544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501827"/>
            <a:ext cx="385564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 combinación da lugar al 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8A4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almacén de lago de datos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50912" y="1525191"/>
            <a:ext cx="6202604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0912" y="1525191"/>
            <a:ext cx="6202604" cy="4494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53933" y="6444952"/>
            <a:ext cx="63776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Arquitectura: cinco capas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4206075" cy="232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Ingesta y procesamiento: ETL o ELT, lotes y tiempo real.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Almacén de datos analíticos.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Modelo de datos analíticos: modelo semántico, DAX y Direct Lake.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Visualización de datos.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Análisis asistido por IA: Q&amp;A, Copilot y Genie.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501344" y="1525191"/>
            <a:ext cx="5852172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344" y="1525191"/>
            <a:ext cx="5852172" cy="44946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3437" y="6444952"/>
            <a:ext cx="638258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Fabric y Databricks por dentro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593578"/>
            <a:ext cx="5257668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864723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Fabric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318669"/>
            <a:ext cx="480048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Lakehouse · Warehouse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Factory · Power BI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38179" y="4098727"/>
            <a:ext cx="4800480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4271764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Sobre OneLake con Delta Lake.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24442" y="2593578"/>
            <a:ext cx="5257668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2864723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Databricks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53036" y="3318669"/>
            <a:ext cx="480048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Lakehouse · Databricks SQL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Notebooks · Catálogo de Unity · Genie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52941" y="6444952"/>
            <a:ext cx="63875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Ingesta de datos en Fabric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3855643" cy="2278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Factory con canalizaciones y Dataflows Gen2.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Accesos directos de OneLake a ADLS Gen2, S3 o GCS sin copiar datos.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Mirroring para replicación casi en tiempo real de bases externas.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Eventstream y Notebooks para streaming y lógica personalizada.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150912" y="1525191"/>
            <a:ext cx="6202604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0912" y="1525191"/>
            <a:ext cx="6202604" cy="44946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2841" y="6444952"/>
            <a:ext cx="63885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Ingesta en Azure Data Factory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y Databricks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86295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134102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Azure Data Factory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588048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Canalizaciones fuera de Fabric, incluidos orígenes locales en entornos híbridos.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19489" y="286295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Text 5"/>
          <p:cNvSpPr/>
          <p:nvPr/>
        </p:nvSpPr>
        <p:spPr>
          <a:xfrm>
            <a:off x="4648084" y="3134102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Canalizaciones declarativas de Lakeflow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48084" y="4238129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Enfoque recomendado para ingesta continua de producción.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394" y="286295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10" name="Text 8"/>
          <p:cNvSpPr/>
          <p:nvPr/>
        </p:nvSpPr>
        <p:spPr>
          <a:xfrm>
            <a:off x="8457988" y="3134102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Cuadernos de Databricks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57988" y="3913088"/>
            <a:ext cx="312412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Ingesta ad hoc o exploratoria.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63358" y="6444952"/>
            <a:ext cx="62833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Almacenes de datos: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esquema de estrella y copo de nieve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028031"/>
            <a:ext cx="3505112" cy="196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Base relacional con esquema optimizado para análisis.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Tablas de hechos centrales relacionadas con tablas de dimensiones.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El copo de nieve añade tablas a las dimensiones para jerarquías.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800480" y="2028031"/>
            <a:ext cx="6553036" cy="399176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480" y="2028031"/>
            <a:ext cx="6553036" cy="39917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849" y="6444952"/>
            <a:ext cx="63984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3657509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Lagos de datos: esquema en lectura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3092549"/>
            <a:ext cx="365750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Almacén de archivos en un sistema distribuido, procesado con Apache Spark.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4242792"/>
            <a:ext cx="3657509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472980"/>
            <a:ext cx="365750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Admite datos estructurados, semiestructurados y no estructurados sin aplicar esquema al escribir.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263" y="609600"/>
            <a:ext cx="6095848" cy="5638800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263" y="609600"/>
            <a:ext cx="6095848" cy="563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52841" y="6444952"/>
            <a:ext cx="63885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El enfoque híbrido: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almacén de lago de datos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028031"/>
            <a:ext cx="3855643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Archivos en el lago más un punto de conexión de SQL Analytics para consultarlos con SQL.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Delta Lake añade esquemas y coherencia transaccional sobre Parquet.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9585" y="3831630"/>
            <a:ext cx="3855544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004667"/>
            <a:ext cx="385564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 Fabric todo reside en 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8A4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OneLake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50912" y="2028031"/>
            <a:ext cx="6202604" cy="399176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0912" y="2028031"/>
            <a:ext cx="6202604" cy="39917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95395" y="6444952"/>
            <a:ext cx="69630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Qué servicio elegir como almacén analítico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803128"/>
            <a:ext cx="3454314" cy="1754684"/>
          </a:xfrm>
          <a:prstGeom prst="roundRect">
            <a:avLst>
              <a:gd name="adj" fmla="val 651"/>
            </a:avLst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29" y="3055223"/>
            <a:ext cx="295902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Fabric Lakehouse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7229" y="3509169"/>
            <a:ext cx="29590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Datos mixtos o semiestructurados y aprendizaje automático.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68691" y="2803128"/>
            <a:ext cx="3454314" cy="1754684"/>
          </a:xfrm>
          <a:prstGeom prst="roundRect">
            <a:avLst>
              <a:gd name="adj" fmla="val 651"/>
            </a:avLst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6335" y="3055223"/>
            <a:ext cx="295902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Fabric Warehouse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16335" y="3509169"/>
            <a:ext cx="29590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Datos estructurados, equipo SQL, esquema estricto y alta concurrencia.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127797" y="2803128"/>
            <a:ext cx="3454314" cy="1754684"/>
          </a:xfrm>
          <a:prstGeom prst="roundRect">
            <a:avLst>
              <a:gd name="adj" fmla="val 651"/>
            </a:avLst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75440" y="3055223"/>
            <a:ext cx="295902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Azure Databricks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75440" y="3509169"/>
            <a:ext cx="29590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Flujos Spark centrados en código, portabilidad multinube o experiencia previa.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16528" y="6444952"/>
            <a:ext cx="67516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648029"/>
            <a:ext cx="10769331" cy="1386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Procesamiento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en tiempo real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1182" y="4195366"/>
            <a:ext cx="3553828" cy="38100"/>
          </a:xfrm>
          <a:prstGeom prst="roundRect">
            <a:avLst>
              <a:gd name="adj" fmla="val 49999"/>
            </a:avLst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11499463" y="6444952"/>
            <a:ext cx="69223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Por lotes frente a flujos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38179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8179" y="1983581"/>
            <a:ext cx="480048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Se recopilan datos y todo el grupo se procesa conjuntamente.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38179" y="2695377"/>
            <a:ext cx="4800480" cy="2958108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695377"/>
            <a:ext cx="4800480" cy="29581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5831761"/>
            <a:ext cx="502907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Contar coches en un aparcamiento.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53036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Flujos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53036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Cada dato se procesa cuando llega.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53036" y="2428379"/>
            <a:ext cx="4800480" cy="3225105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428379"/>
            <a:ext cx="4800480" cy="32251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36" y="5831761"/>
            <a:ext cx="502907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Contar coches al pasar.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499463" y="6444952"/>
            <a:ext cx="69223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Ventajas y desventajas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del procesamiento por lotes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99431"/>
          <a:ext cx="10972526" cy="914400"/>
        </p:xfrm>
        <a:graphic>
          <a:graphicData uri="http://schemas.openxmlformats.org/drawingml/2006/table">
            <a:tbl>
              <a:tblPr/>
              <a:tblGrid>
                <a:gridCol w="2523665"/>
                <a:gridCol w="3840364"/>
                <a:gridCol w="4608497"/>
              </a:tblGrid>
              <a:tr h="476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Aspecto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Ventajas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Desventajas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Capacidad de procesamiento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Los grandes volúmenes se procesan de forma eficaz en un momento conveniente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Todos los datos de entrada deben estar preparados para comenzar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Uso del sistema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Trabajos programados en horas inactivas, mejor uso de recursos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 menudo hay retraso entre la entrada de datos y los resultados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Fiabilidad y errores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—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Errores, bloqueos o fallos pueden detener todo el proceso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Validación de datos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—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Los datos de entrada deben comprobarse antes de volver a ejecutar el trabajo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Impacto de errores menores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—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Incluso errores pequeños pueden impedir que el trabajo se ejecute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02043" y="6444952"/>
            <a:ext cx="68965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Diferencias entre datos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por lotes y streaming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96021"/>
          <a:ext cx="10972526" cy="914400"/>
        </p:xfrm>
        <a:graphic>
          <a:graphicData uri="http://schemas.openxmlformats.org/drawingml/2006/table">
            <a:tbl>
              <a:tblPr/>
              <a:tblGrid>
                <a:gridCol w="2194465"/>
                <a:gridCol w="4388931"/>
                <a:gridCol w="4389129"/>
              </a:tblGrid>
              <a:tr h="654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Aspecto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Lotes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Streaming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Ámbito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Todo el conjunto de datos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Datos recientes o una ventana móvil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Tamaño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Grandes conjuntos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Registros individuales o microlotes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Latencia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Horas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Segundos o milisegundos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Análisis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Complejo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Agregaciones y cálculos simples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228594" marT="190495" marB="190495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499364" y="6444952"/>
            <a:ext cx="692331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Combinar lotes y flujos: arquitectura lambda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3855643" cy="191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Los eventos en streaming se capturan en tiempo real o se escriben en el almacén para procesar después por lotes.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Los resultados de ambos caminos se conservan en un almacén analítico para análisis histórico.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9585" y="3595787"/>
            <a:ext cx="3855544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768824"/>
            <a:ext cx="385564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 alternativa kappa trata todos los datos como una secuencia continua.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150912" y="1525191"/>
            <a:ext cx="6202604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0912" y="1525191"/>
            <a:ext cx="6202604" cy="4494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99463" y="6444952"/>
            <a:ext cx="69223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Arquitectura general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de procesamiento de flujos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028031"/>
            <a:ext cx="3505112" cy="174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Un evento genera datos.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Se capturan en un origen o cola.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Una consulta perpetua los procesa, por ejemplo en ventanas de tiempo.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El resultado se escribe en un receptor.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800480" y="2028031"/>
            <a:ext cx="6553036" cy="399176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480" y="2028031"/>
            <a:ext cx="6553036" cy="39917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11766" y="6444952"/>
            <a:ext cx="679929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Servicios de Azure para flujos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669580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940725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Orígenes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394670"/>
            <a:ext cx="2895528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Event Hubs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IoT Hub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Lake Store Gen2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Apache Kafka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19489" y="2669580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Text 5"/>
          <p:cNvSpPr/>
          <p:nvPr/>
        </p:nvSpPr>
        <p:spPr>
          <a:xfrm>
            <a:off x="4648084" y="2940725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Servicios de análisis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48084" y="3394670"/>
            <a:ext cx="2895528" cy="101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Fabric Real-Time Intelligence</a:t>
            </a:r>
            <a:endParaRPr lang="en-US" sz="145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Spark Structured Streaming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Azure Stream Analytics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394" y="2669580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10" name="Text 8"/>
          <p:cNvSpPr/>
          <p:nvPr/>
        </p:nvSpPr>
        <p:spPr>
          <a:xfrm>
            <a:off x="8457988" y="2940725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Receptores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57988" y="3394670"/>
            <a:ext cx="2895528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Event Hubs, Data Lake, OneLake, Blob Storage, Azure SQL Database, Databricks, Fabric y Power BI.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96685" y="6444952"/>
            <a:ext cx="695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Fabric Real-Time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350511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Eventstreams, Eventhouse (KQL), Real-Time Dashboards y Activator.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2618284"/>
            <a:ext cx="3505112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91321"/>
            <a:ext cx="3505112" cy="1382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El centro en tiempo real es un catálogo central para detectar y compartir datos de streaming.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Alertas del activador para reaccionar en tiempo real.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480" y="1525191"/>
            <a:ext cx="6553036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480" y="1525191"/>
            <a:ext cx="6553036" cy="4494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98769" y="6444952"/>
            <a:ext cx="69292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Spark Structured Streaming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3505112" cy="174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Conectar con un origen de transmisión.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Leer los datos en una trama de datos que crece con cada evento.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Escribir una consulta sobre ella.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Enviar resultados a una salida.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800480" y="1525191"/>
            <a:ext cx="6553036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480" y="1525191"/>
            <a:ext cx="6553036" cy="44946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6048" y="6444952"/>
            <a:ext cx="71564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Delta Lake: fiabilidad en el lago de datos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77405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045202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Confiabilidad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499148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Las escrituras parciales o con errores no dañan los datos.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19489" y="277405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Text 5"/>
          <p:cNvSpPr/>
          <p:nvPr/>
        </p:nvSpPr>
        <p:spPr>
          <a:xfrm>
            <a:off x="4648084" y="3045202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Validación del esquema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48084" y="3824188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Los datos deben ajustarse a una estructura definida.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394" y="277405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10" name="Text 8"/>
          <p:cNvSpPr/>
          <p:nvPr/>
        </p:nvSpPr>
        <p:spPr>
          <a:xfrm>
            <a:off x="8457988" y="3045202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Lotes y streaming unificados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57988" y="3824188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 misma tabla sirve como receptor y como origen.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99463" y="6444952"/>
            <a:ext cx="69223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648029"/>
            <a:ext cx="10769331" cy="1386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Modelado y visualización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con Power BI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1182" y="4195366"/>
            <a:ext cx="3553828" cy="38100"/>
          </a:xfrm>
          <a:prstGeom prst="roundRect">
            <a:avLst>
              <a:gd name="adj" fmla="val 49999"/>
            </a:avLst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11482398" y="6444952"/>
            <a:ext cx="70929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Flujo de trabajo de Power BI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9636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Power BI Desktop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1983581"/>
            <a:ext cx="350511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Importar datos, crear el modelo y los informes.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2671564"/>
            <a:ext cx="3505112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906197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Servicio Power BI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360142"/>
            <a:ext cx="350511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Publicar, actualizar, compartir y crear paneles y aplicaciones.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5" y="4048125"/>
            <a:ext cx="3505112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4282758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Aplicación móvil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4736703"/>
            <a:ext cx="350511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Consumo desde teléfono.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800480" y="1525191"/>
            <a:ext cx="6553036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480" y="1525191"/>
            <a:ext cx="6553036" cy="449460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81902" y="6444952"/>
            <a:ext cx="709793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Power BI en Microsoft Fabric y su 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69408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965232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Microsoft Fabric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419177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Áreas de trabajo compartidas, modelos semánticos, modo Direct Lake y edición web.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19489" y="269408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Text 5"/>
          <p:cNvSpPr/>
          <p:nvPr/>
        </p:nvSpPr>
        <p:spPr>
          <a:xfrm>
            <a:off x="4648084" y="2965232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Copilot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48084" y="3419177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Resumir informes, crear páginas y generar medidas DAX.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48084" y="4061599"/>
            <a:ext cx="2895528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Requiere capacidad F2 o superior, o Premium P1 o superior.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394" y="2694087"/>
            <a:ext cx="3352716" cy="381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11" name="Text 9"/>
          <p:cNvSpPr/>
          <p:nvPr/>
        </p:nvSpPr>
        <p:spPr>
          <a:xfrm>
            <a:off x="8457988" y="2965232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Narración inteligente visual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7988" y="3744218"/>
            <a:ext cx="312412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Sin licencia de Copilot.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82993" y="6444952"/>
            <a:ext cx="70870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Modelo semántico: medidas y dimensiones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4206075" cy="223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Las medidas son los valores numéricos a analizar; las dimensiones, las entidades por las que se agregan.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Tablas de hechos y de dimensiones forman el esquema de estrella; con detalles adicionales, el copo de nieve.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VertiPaq calcula las agregaciones en tiempo de consulta.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501344" y="1525191"/>
            <a:ext cx="5852172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344" y="1525191"/>
            <a:ext cx="5852172" cy="44946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80810" y="6444952"/>
            <a:ext cx="71088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Jerarquías y vista Modelo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38179" y="1525191"/>
            <a:ext cx="480048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Las jerarquías permiten subir y bajar por niveles: producto a categoría, cliente a ciudad, día a mes a año.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38179" y="2503984"/>
            <a:ext cx="4800480" cy="3515816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503984"/>
            <a:ext cx="4800480" cy="3515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53036" y="1525191"/>
            <a:ext cx="480048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 Power BI Desktop, la vista Model crea relaciones, jerarquías y formatos.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53036" y="2236986"/>
            <a:ext cx="4800480" cy="3782814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236986"/>
            <a:ext cx="4800480" cy="3782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80711" y="6444952"/>
            <a:ext cx="71098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Tablas, texto y gráficos de columnas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38179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Tablas y tarjetas de texto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8179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Comunican valores y métricas clave.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38179" y="2428379"/>
            <a:ext cx="4800480" cy="359142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428379"/>
            <a:ext cx="4800480" cy="35914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3036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Barras y columnas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53036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Comparan valores de categorías discretas.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53036" y="2428379"/>
            <a:ext cx="4800480" cy="359142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428379"/>
            <a:ext cx="4800480" cy="3591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91228" y="6444952"/>
            <a:ext cx="70046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Líneas y circulares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38179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Líneas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8179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Examinar tendencias, a menudo en el tiempo.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38179" y="2428379"/>
            <a:ext cx="4800480" cy="359142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428379"/>
            <a:ext cx="4800480" cy="35914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3036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Circulares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53036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Valores como proporciones de un total.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53036" y="2428379"/>
            <a:ext cx="4800480" cy="359142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428379"/>
            <a:ext cx="4800480" cy="3591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79719" y="6444952"/>
            <a:ext cx="71197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Dispersión y mapas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38179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Dispersión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8179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Comparar dos medidas e identificar correlación.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38179" y="2428379"/>
            <a:ext cx="4800480" cy="359142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428379"/>
            <a:ext cx="4800480" cy="35914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3036" y="1529636"/>
            <a:ext cx="480048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Mapas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53036" y="1983581"/>
            <a:ext cx="50290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Comparar valores entre ubicaciones geográficas.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53036" y="2428379"/>
            <a:ext cx="4800480" cy="359142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428379"/>
            <a:ext cx="4800480" cy="3591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80711" y="6444952"/>
            <a:ext cx="71098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Informes interactivos y visualizaciones con 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25191"/>
            <a:ext cx="350511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Seleccionar una categoría filtra y resalta las demás visualizaciones.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2618284"/>
            <a:ext cx="3505112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91321"/>
            <a:ext cx="3505112" cy="121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Narraciones inteligentes.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Preguntas y respuestas visuales.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Influenciadores clave.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Árbol de descomposición.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480" y="1525191"/>
            <a:ext cx="6553036" cy="4494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480" y="1525191"/>
            <a:ext cx="6553036" cy="4494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75453" y="6444952"/>
            <a:ext cx="71624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2026-10-17T17:40:33Z</dcterms:created>
  <dcterms:modified xsi:type="dcterms:W3CDTF">2026-10-17T17:40:33Z</dcterms:modified>
</cp:coreProperties>
</file>