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embeddedFontLst>
    <p:embeddedFont>
      <p:font typeface="Inclusive Sans"/>
      <p:regular r:id="rId201314"/>
    </p:embeddedFont>
    <p:embeddedFont>
      <p:font typeface="Inclusive Sans SemiBold"/>
      <p:regular r:id="rId201315"/>
    </p:embeddedFont>
    <p:embeddedFont>
      <p:font typeface="Inclusive Sans Bold"/>
      <p:regular r:id="rId201316"/>
    </p:embeddedFont>
    <p:embeddedFont>
      <p:font typeface="Signika SemiBold"/>
      <p:regular r:id="rId201317"/>
    </p:embeddedFont>
    <p:embeddedFont>
      <p:font typeface="Signika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2C"/>
          </a:solidFill>
          <a:ln/>
        </p:spPr>
      </p:sp>
      <p:sp>
        <p:nvSpPr>
          <p:cNvPr id="3" name="Text 1"/>
          <p:cNvSpPr/>
          <p:nvPr/>
        </p:nvSpPr>
        <p:spPr>
          <a:xfrm>
            <a:off x="812780" y="2448421"/>
            <a:ext cx="1056613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b="1" spc="-96" kern="100" dirty="0">
                <a:solidFill>
                  <a:srgbClr val="FFFFFF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Datos relacionales</a:t>
            </a:r>
            <a:endParaRPr lang="en-US" sz="6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400" b="1" spc="-96" kern="100" dirty="0">
                <a:solidFill>
                  <a:srgbClr val="FFFFFF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en Azure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12780" y="4311055"/>
            <a:ext cx="3486757" cy="88801"/>
          </a:xfrm>
          <a:prstGeom prst="roundRect">
            <a:avLst>
              <a:gd name="adj" fmla="val 49999"/>
            </a:avLst>
          </a:prstGeom>
          <a:solidFill>
            <a:srgbClr val="F8F4E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El modelo relacional resolvió el caos de estructuras de datos propias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2973654"/>
            <a:ext cx="541006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Estructuras propias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189" y="3485217"/>
            <a:ext cx="5410065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Cada aplicación almacenaba datos en una estructura única: ineficaz, costosa de mantener y difícil de optimizar.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24442" y="2973654"/>
            <a:ext cx="541006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Modelo relacional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24442" y="3485217"/>
            <a:ext cx="541006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Una forma estándar de representar y consultar datos mediante tablas.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189" y="6124674"/>
            <a:ext cx="117345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F5F52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Inventarios · transacciones de comercio electrónico · información de clientes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89498" y="2967137"/>
            <a:ext cx="12700" cy="1643757"/>
          </a:xfrm>
          <a:prstGeom prst="rect">
            <a:avLst/>
          </a:prstGeom>
          <a:solidFill>
            <a:srgbClr val="1E3A2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Las entidades del mundo real se modelan como tablas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414066"/>
            <a:ext cx="4328012" cy="3885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Cada fila es una instancia: clientes, productos, pedidos o elementos de línea.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Las mismas columnas en cada fila; algunas admiten NULL, como MiddleName.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Tipos específicos: texto, decimal, entero, fecha y hora. ANSI define tipos comunes.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0884" y="1414066"/>
            <a:ext cx="6035028" cy="47581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La normalización minimiza la duplicación y exige integridad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688306"/>
            <a:ext cx="488938" cy="488950"/>
          </a:xfrm>
          <a:prstGeom prst="ellipse">
            <a:avLst/>
          </a:prstGeom>
          <a:solidFill>
            <a:srgbClr val="1E3A2C"/>
          </a:solidFill>
          <a:ln w="31749">
            <a:solidFill>
              <a:srgbClr val="D3CD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2603" y="1793081"/>
            <a:ext cx="74769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8F4EA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25519" y="1747996"/>
            <a:ext cx="1050898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Separar cada entidad en su propia tabla.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189" y="2942630"/>
            <a:ext cx="488938" cy="488950"/>
          </a:xfrm>
          <a:prstGeom prst="ellipse">
            <a:avLst/>
          </a:prstGeom>
          <a:solidFill>
            <a:srgbClr val="1E3A2C"/>
          </a:solidFill>
          <a:ln w="31749">
            <a:solidFill>
              <a:srgbClr val="D3C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2681" y="3047405"/>
            <a:ext cx="767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8F4EA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25519" y="3002320"/>
            <a:ext cx="1050898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Separar cada atributo discreto en su propia columna.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189" y="4196953"/>
            <a:ext cx="488938" cy="488950"/>
          </a:xfrm>
          <a:prstGeom prst="ellipse">
            <a:avLst/>
          </a:prstGeom>
          <a:solidFill>
            <a:srgbClr val="1E3A2C"/>
          </a:solidFill>
          <a:ln w="31749">
            <a:solidFill>
              <a:srgbClr val="D3C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209" y="4301728"/>
            <a:ext cx="77448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8F4EA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25519" y="4256643"/>
            <a:ext cx="1050898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Identificar cada fila con una clave principal.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189" y="5451277"/>
            <a:ext cx="488938" cy="488950"/>
          </a:xfrm>
          <a:prstGeom prst="ellipse">
            <a:avLst/>
          </a:prstGeom>
          <a:solidFill>
            <a:srgbClr val="1E3A2C"/>
          </a:solidFill>
          <a:ln w="31749">
            <a:solidFill>
              <a:srgbClr val="D3CD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1470" y="5556052"/>
            <a:ext cx="78986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8F4EA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25519" y="5510967"/>
            <a:ext cx="1050898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Usar claves externas para vincular entidades relacionadas.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Normalizar elimina datos duplicados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169758"/>
            <a:ext cx="11277318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Un cambio de dirección afecta a una sola fila.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716881"/>
            <a:ext cx="3538945" cy="3047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4967982"/>
            <a:ext cx="11277318" cy="12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La hoja de ventas repite cliente y producto por artículo vendido.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Cada entidad pasa a su tabla; cada atributo, a su columna.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Las columnas garantizan tipos adecuados y permiten filtrar por ciudad.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Las claves vinculan las entidades y protegen la integridad referencial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947366"/>
            <a:ext cx="5410065" cy="1800027"/>
          </a:xfrm>
          <a:prstGeom prst="roundRect">
            <a:avLst>
              <a:gd name="adj" fmla="val 635"/>
            </a:avLst>
          </a:prstGeom>
          <a:noFill/>
          <a:ln w="38099">
            <a:solidFill>
              <a:srgbClr val="D3CD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3882" y="2220584"/>
            <a:ext cx="4876678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Clave principal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23882" y="2732147"/>
            <a:ext cx="514337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Identifica de forma única cada fila.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24442" y="1947366"/>
            <a:ext cx="5410065" cy="1800027"/>
          </a:xfrm>
          <a:prstGeom prst="roundRect">
            <a:avLst>
              <a:gd name="adj" fmla="val 635"/>
            </a:avLst>
          </a:prstGeom>
          <a:noFill/>
          <a:ln w="38099">
            <a:solidFill>
              <a:srgbClr val="D3C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91135" y="2220584"/>
            <a:ext cx="4876678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Clave externa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91135" y="2732147"/>
            <a:ext cx="4876678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Guarda la clave principal de la entidad relacionada.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189" y="3956308"/>
            <a:ext cx="11277318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El RDBMS puede aplicar integridad referencial, por ejemplo evitar pedidos para clientes inexistentes.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189" y="5189339"/>
            <a:ext cx="11277318" cy="1211461"/>
          </a:xfrm>
          <a:prstGeom prst="rect">
            <a:avLst/>
          </a:prstGeom>
          <a:solidFill>
            <a:srgbClr val="E1E7D6"/>
          </a:solidFill>
          <a:ln/>
        </p:spPr>
      </p:sp>
      <p:sp>
        <p:nvSpPr>
          <p:cNvPr id="11" name="Text 9"/>
          <p:cNvSpPr/>
          <p:nvPr/>
        </p:nvSpPr>
        <p:spPr>
          <a:xfrm>
            <a:off x="685783" y="5423654"/>
            <a:ext cx="10820129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Una clave compuesta combina varias columnas: LineItem usa OrderNo e ItemNo.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SQL es el lenguaje estándar de las bases de datos relacionales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2579390"/>
            <a:ext cx="1127731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72" kern="100" dirty="0">
                <a:solidFill>
                  <a:srgbClr val="1E3A2C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Lenguaje de consulta estructurado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3377267"/>
            <a:ext cx="1173450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Sirve para actualizar o recuperar datos.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189" y="3955693"/>
            <a:ext cx="1127731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SQL Server · Azure SQL Database · Azure SQL Managed Instance · SQL Server en Azure VMs · MySQL · PostgreSQL · Oracle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189" y="5712520"/>
            <a:ext cx="11277318" cy="38100"/>
          </a:xfrm>
          <a:prstGeom prst="roundRect">
            <a:avLst>
              <a:gd name="adj" fmla="val 49999"/>
            </a:avLst>
          </a:prstGeom>
          <a:solidFill>
            <a:srgbClr val="1E3A2C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6029385"/>
            <a:ext cx="1173450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ANSI, 1986 · ISO, 1987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Cada sistema habla su propio dialecto de SQL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185466"/>
          <a:ext cx="11277318" cy="914400"/>
        </p:xfrm>
        <a:graphic>
          <a:graphicData uri="http://schemas.openxmlformats.org/drawingml/2006/table">
            <a:tbl>
              <a:tblPr/>
              <a:tblGrid>
                <a:gridCol w="3309061"/>
                <a:gridCol w="7663365"/>
                <a:gridCol w="304892"/>
              </a:tblGrid>
              <a:tr h="467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Dialecto</a:t>
                      </a:r>
                      <a:endParaRPr lang="en-US" sz="18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E1E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Sistemas</a:t>
                      </a:r>
                      <a:endParaRPr lang="en-US" sz="18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E1E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E1E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D6"/>
                    </a:solidFill>
                  </a:tcPr>
                </a:tc>
              </a:tr>
              <a:tr h="7758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Transact-SQL (T-SQL)</a:t>
                      </a:r>
                      <a:endParaRPr lang="en-US" sz="18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SQL Server, Azure SQL Database, Azure SQL Managed Instance y SQL Server en Azure VMs</a:t>
                      </a:r>
                      <a:endParaRPr lang="en-US" sz="18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7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pgSQL</a:t>
                      </a:r>
                      <a:endParaRPr lang="en-US" sz="18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PostgreSQL</a:t>
                      </a:r>
                      <a:endParaRPr lang="en-US" sz="18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PL/SQL</a:t>
                      </a:r>
                      <a:endParaRPr lang="en-US" sz="18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Oracle</a:t>
                      </a:r>
                      <a:endParaRPr lang="en-US" sz="18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189" y="5652254"/>
            <a:ext cx="11277318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Azure SQL Database incluye IA para escribir y comprender consultas en lenguaje natural.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Las instrucciones SQL se agrupan en DDL, DCL y DML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756866"/>
            <a:ext cx="3555911" cy="3810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2033091"/>
            <a:ext cx="3098722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DDL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783" y="2629356"/>
            <a:ext cx="332731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783" y="3137932"/>
            <a:ext cx="3098722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CREATE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ALTER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DROP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RENAME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17892" y="1756866"/>
            <a:ext cx="3555911" cy="3810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8" name="Text 6"/>
          <p:cNvSpPr/>
          <p:nvPr/>
        </p:nvSpPr>
        <p:spPr>
          <a:xfrm>
            <a:off x="4546486" y="2033091"/>
            <a:ext cx="3098722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DCL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46486" y="2629356"/>
            <a:ext cx="332731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Control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46486" y="3137932"/>
            <a:ext cx="3098722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GRANT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DENY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REVOKE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78595" y="1756866"/>
            <a:ext cx="3555911" cy="3810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12" name="Text 10"/>
          <p:cNvSpPr/>
          <p:nvPr/>
        </p:nvSpPr>
        <p:spPr>
          <a:xfrm>
            <a:off x="8407190" y="2033091"/>
            <a:ext cx="3098722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DML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407190" y="2629356"/>
            <a:ext cx="332731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Manipulación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07190" y="3137932"/>
            <a:ext cx="3098722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SELECT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INSERT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UPDATE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DELETE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189" y="5393829"/>
            <a:ext cx="11277318" cy="1007070"/>
          </a:xfrm>
          <a:prstGeom prst="roundRect">
            <a:avLst>
              <a:gd name="adj" fmla="val 1135"/>
            </a:avLst>
          </a:prstGeom>
          <a:solidFill>
            <a:srgbClr val="FCF2B5"/>
          </a:solidFill>
          <a:ln/>
        </p:spPr>
      </p:sp>
      <p:sp>
        <p:nvSpPr>
          <p:cNvPr id="16" name="Text 14"/>
          <p:cNvSpPr/>
          <p:nvPr/>
        </p:nvSpPr>
        <p:spPr>
          <a:xfrm>
            <a:off x="736582" y="5746889"/>
            <a:ext cx="1132811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DROP elimina todas las filas de la tabla; sin copia de seguridad no se recuperan.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Crear una tabla y conceder permisos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466354"/>
            <a:ext cx="11277318" cy="2793702"/>
          </a:xfrm>
          <a:prstGeom prst="roundRect">
            <a:avLst>
              <a:gd name="adj" fmla="val 409"/>
            </a:avLst>
          </a:prstGeom>
          <a:solidFill>
            <a:srgbClr val="E1E7D6"/>
          </a:solidFill>
          <a:ln/>
        </p:spPr>
      </p:sp>
      <p:sp>
        <p:nvSpPr>
          <p:cNvPr id="4" name="Text 2"/>
          <p:cNvSpPr/>
          <p:nvPr/>
        </p:nvSpPr>
        <p:spPr>
          <a:xfrm>
            <a:off x="792440" y="1745754"/>
            <a:ext cx="10606814" cy="2234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Product (</a:t>
            </a:r>
            <a:endParaRPr lang="en-US" sz="2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PRIMARY KEY,</a:t>
            </a:r>
            <a:endParaRPr lang="en-US" sz="2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VARCHAR(20) NOT NULL,</a:t>
            </a:r>
            <a:endParaRPr lang="en-US" sz="2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DECIMAL NULL</a:t>
            </a:r>
            <a:endParaRPr lang="en-US" sz="2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189" y="4888706"/>
            <a:ext cx="11277318" cy="1005780"/>
          </a:xfrm>
          <a:prstGeom prst="roundRect">
            <a:avLst>
              <a:gd name="adj" fmla="val 1136"/>
            </a:avLst>
          </a:prstGeom>
          <a:solidFill>
            <a:srgbClr val="E1E7D6"/>
          </a:solidFill>
          <a:ln/>
        </p:spPr>
      </p:sp>
      <p:sp>
        <p:nvSpPr>
          <p:cNvPr id="6" name="Text 4"/>
          <p:cNvSpPr/>
          <p:nvPr/>
        </p:nvSpPr>
        <p:spPr>
          <a:xfrm>
            <a:off x="792440" y="5168106"/>
            <a:ext cx="1121639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 UPDATE ON Product TO user1;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SELECT recupera datos; WHERE, ORDER BY y JOIN los afinan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777206"/>
            <a:ext cx="11277318" cy="1005780"/>
          </a:xfrm>
          <a:prstGeom prst="roundRect">
            <a:avLst>
              <a:gd name="adj" fmla="val 1136"/>
            </a:avLst>
          </a:prstGeom>
          <a:solidFill>
            <a:srgbClr val="E1E7D6"/>
          </a:solidFill>
          <a:ln/>
        </p:spPr>
      </p:sp>
      <p:sp>
        <p:nvSpPr>
          <p:cNvPr id="4" name="Text 2"/>
          <p:cNvSpPr/>
          <p:nvPr/>
        </p:nvSpPr>
        <p:spPr>
          <a:xfrm>
            <a:off x="792440" y="2056606"/>
            <a:ext cx="1121639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 WHERE City = 'Seattle';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189" y="3097312"/>
            <a:ext cx="11277318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1550"/>
              </a:spcAft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ORDER BY LastName ordena el resultado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JOIN empareja una clave externa con su clave principal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189" y="4231977"/>
            <a:ext cx="11277318" cy="1899741"/>
          </a:xfrm>
          <a:prstGeom prst="roundRect">
            <a:avLst>
              <a:gd name="adj" fmla="val 602"/>
            </a:avLst>
          </a:prstGeom>
          <a:solidFill>
            <a:srgbClr val="E1E7D6"/>
          </a:solidFill>
          <a:ln/>
        </p:spPr>
      </p:sp>
      <p:sp>
        <p:nvSpPr>
          <p:cNvPr id="7" name="Text 5"/>
          <p:cNvSpPr/>
          <p:nvPr/>
        </p:nvSpPr>
        <p:spPr>
          <a:xfrm>
            <a:off x="792440" y="4511377"/>
            <a:ext cx="10606814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o.OrderNo, o.OrderDate, c.Address, c.City</a:t>
            </a:r>
            <a:endParaRPr lang="en-US" sz="2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 AS o</a:t>
            </a:r>
            <a:endParaRPr lang="en-US" sz="2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 AS c ON o.Customer = c.ID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INSERT, UPDATE y DELETE: cuidado con la cláusula WHERE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688306"/>
            <a:ext cx="11277318" cy="1556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1550"/>
              </a:spcAft>
              <a:buNone/>
            </a:pPr>
            <a:r>
              <a:rPr lang="en-US" sz="2200" dirty="0">
                <a:solidFill>
                  <a:srgbClr val="1E3A2C"/>
                </a:solidFill>
                <a:highlight>
                  <a:srgbClr val="E1E7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Product(ID, Name, Price) VALUES (99, 'Drill', 4.99);</a:t>
            </a:r>
            <a:endParaRPr lang="en-US" sz="2200" dirty="0"/>
          </a:p>
          <a:p>
            <a:pPr algn="l" indent="0" marL="0">
              <a:lnSpc>
                <a:spcPct val="113000"/>
              </a:lnSpc>
              <a:spcAft>
                <a:spcPts val="1550"/>
              </a:spcAft>
              <a:buNone/>
            </a:pPr>
            <a:r>
              <a:rPr lang="en-US" sz="2200" dirty="0">
                <a:solidFill>
                  <a:srgbClr val="1E3A2C"/>
                </a:solidFill>
                <a:highlight>
                  <a:srgbClr val="E1E7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Customer SET Address = '123 High St.' WHERE ID = 1;</a:t>
            </a:r>
            <a:endParaRPr lang="en-US" sz="22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highlight>
                  <a:srgbClr val="E1E7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Product WHERE ID = 162;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189" y="3448348"/>
            <a:ext cx="11277318" cy="1007070"/>
          </a:xfrm>
          <a:prstGeom prst="roundRect">
            <a:avLst>
              <a:gd name="adj" fmla="val 1135"/>
            </a:avLst>
          </a:prstGeom>
          <a:solidFill>
            <a:srgbClr val="FCF2B5"/>
          </a:solidFill>
          <a:ln/>
        </p:spPr>
      </p:sp>
      <p:sp>
        <p:nvSpPr>
          <p:cNvPr id="5" name="Text 3"/>
          <p:cNvSpPr/>
          <p:nvPr/>
        </p:nvSpPr>
        <p:spPr>
          <a:xfrm>
            <a:off x="736582" y="3801408"/>
            <a:ext cx="1132811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Sin WHERE, UPDATE y DELETE afectan a todas las filas; SQL no pide confirmación.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Una vista es una tabla virtual basada en una consulta SELECT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916906"/>
            <a:ext cx="4328012" cy="3131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Una ventana a filas concretas de una o varias tablas.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Deliveries une Order y Customer para ver direcciones de entrega.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Se consulta y filtra igual que una tabla.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0884" y="1916906"/>
            <a:ext cx="6035028" cy="42552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Un procedimiento almacenado encapsula lógica en la base de datos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891070"/>
            <a:ext cx="1173450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Define instrucciones SQL que se ejecutan a petición, con parámetros.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189" y="2576810"/>
            <a:ext cx="11277318" cy="1452761"/>
          </a:xfrm>
          <a:prstGeom prst="roundRect">
            <a:avLst>
              <a:gd name="adj" fmla="val 787"/>
            </a:avLst>
          </a:prstGeom>
          <a:solidFill>
            <a:srgbClr val="E1E7D6"/>
          </a:solidFill>
          <a:ln/>
        </p:spPr>
      </p:sp>
      <p:sp>
        <p:nvSpPr>
          <p:cNvPr id="5" name="Text 3"/>
          <p:cNvSpPr/>
          <p:nvPr/>
        </p:nvSpPr>
        <p:spPr>
          <a:xfrm>
            <a:off x="792440" y="2856210"/>
            <a:ext cx="10606814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RenameProduct @ProductID INT, @NewName VARCHAR(20) AS UPDATE Product SET Name = @NewName WHERE ID = @ProductID;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189" y="4658221"/>
            <a:ext cx="11277318" cy="1005780"/>
          </a:xfrm>
          <a:prstGeom prst="roundRect">
            <a:avLst>
              <a:gd name="adj" fmla="val 1136"/>
            </a:avLst>
          </a:prstGeom>
          <a:solidFill>
            <a:srgbClr val="E1E7D6"/>
          </a:solidFill>
          <a:ln/>
        </p:spPr>
      </p:sp>
      <p:sp>
        <p:nvSpPr>
          <p:cNvPr id="7" name="Text 5"/>
          <p:cNvSpPr/>
          <p:nvPr/>
        </p:nvSpPr>
        <p:spPr>
          <a:xfrm>
            <a:off x="792440" y="4937621"/>
            <a:ext cx="1121639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RenameProduct 201, 'Spanner';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Un índice acelera las búsquedas, pero tiene un coste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419781"/>
            <a:ext cx="5410065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Como el índice de un libro: entradas ordenadas con punteros a las filas de la tabla.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189" y="2682617"/>
            <a:ext cx="541006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Crea una estructura basada en árbol.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3301702"/>
            <a:ext cx="5410065" cy="1452761"/>
          </a:xfrm>
          <a:prstGeom prst="roundRect">
            <a:avLst>
              <a:gd name="adj" fmla="val 787"/>
            </a:avLst>
          </a:prstGeom>
          <a:solidFill>
            <a:srgbClr val="E1E7D6"/>
          </a:solidFill>
          <a:ln/>
        </p:spPr>
      </p:sp>
      <p:sp>
        <p:nvSpPr>
          <p:cNvPr id="6" name="Text 4"/>
          <p:cNvSpPr/>
          <p:nvPr/>
        </p:nvSpPr>
        <p:spPr>
          <a:xfrm>
            <a:off x="792440" y="3581102"/>
            <a:ext cx="4739561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idx_ProductName</a:t>
            </a:r>
            <a:endParaRPr lang="en-US" sz="2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Product(Name);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189" y="5072598"/>
            <a:ext cx="541006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Consume almacenamiento y ralentiza inserciones, actualizaciones y eliminaciones: hay que equilibrar.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036" y="1414066"/>
            <a:ext cx="4952876" cy="47581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3" name="Text 1"/>
          <p:cNvSpPr/>
          <p:nvPr/>
        </p:nvSpPr>
        <p:spPr>
          <a:xfrm>
            <a:off x="812780" y="2472234"/>
            <a:ext cx="1056613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b="1" spc="-96" kern="100" dirty="0">
                <a:solidFill>
                  <a:srgbClr val="FFFFFF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Servicios de bases de datos relacionales en Azure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12780" y="4336455"/>
            <a:ext cx="3486757" cy="38100"/>
          </a:xfrm>
          <a:prstGeom prst="roundRect">
            <a:avLst>
              <a:gd name="adj" fmla="val 49999"/>
            </a:avLst>
          </a:prstGeom>
          <a:solidFill>
            <a:srgbClr val="F8F4EA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Azure ejecuta en la nube los sistemas relacionales más conocidos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2822674"/>
            <a:ext cx="3555911" cy="883841"/>
          </a:xfrm>
          <a:prstGeom prst="roundRect">
            <a:avLst>
              <a:gd name="adj" fmla="val 1293"/>
            </a:avLst>
          </a:prstGeom>
          <a:noFill/>
          <a:ln w="38099">
            <a:solidFill>
              <a:srgbClr val="D3CD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3882" y="3095891"/>
            <a:ext cx="302252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SQL Server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317892" y="2822674"/>
            <a:ext cx="3555911" cy="883841"/>
          </a:xfrm>
          <a:prstGeom prst="roundRect">
            <a:avLst>
              <a:gd name="adj" fmla="val 1293"/>
            </a:avLst>
          </a:prstGeom>
          <a:noFill/>
          <a:ln w="38099">
            <a:solidFill>
              <a:srgbClr val="D3C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84585" y="3095891"/>
            <a:ext cx="302252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PostgreSQL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178595" y="2822674"/>
            <a:ext cx="3555911" cy="883841"/>
          </a:xfrm>
          <a:prstGeom prst="roundRect">
            <a:avLst>
              <a:gd name="adj" fmla="val 1293"/>
            </a:avLst>
          </a:prstGeom>
          <a:noFill/>
          <a:ln w="38099">
            <a:solidFill>
              <a:srgbClr val="D3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45289" y="3095891"/>
            <a:ext cx="302252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MySQL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189" y="3915430"/>
            <a:ext cx="1173450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La mayoría son totalmente administrados, sin mantenimiento de infraestructura.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189" y="5652353"/>
            <a:ext cx="11277318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Alta disponibilidad · escalado global · detección de amenazas · ajuste automático del rendimiento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Azure SQL es una familia de tres servicios basados en SQL Server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709267"/>
            <a:ext cx="761981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3680984"/>
            <a:ext cx="3454314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SQL Server en Azure Virtual Machines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189" y="4541083"/>
            <a:ext cx="345431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IaaS, ideal para migración lift-and-shift.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2709267"/>
            <a:ext cx="761981" cy="76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8691" y="3680984"/>
            <a:ext cx="3454314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Azure SQL Managed Instance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368691" y="4541083"/>
            <a:ext cx="345431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PaaS con compatibilidad casi completa con SQL Server local.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3" y="2709267"/>
            <a:ext cx="590535" cy="771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80193" y="3690509"/>
            <a:ext cx="345431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Azure SQL Database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8280193" y="4200168"/>
            <a:ext cx="3454314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PaaS totalmente administrado y escalable, diseñado para la nube.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77508"/>
            <a:ext cx="11480513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Comparación de los tres servicios de Azure SQL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91" y="1083866"/>
          <a:ext cx="11480513" cy="914400"/>
        </p:xfrm>
        <a:graphic>
          <a:graphicData uri="http://schemas.openxmlformats.org/drawingml/2006/table">
            <a:tbl>
              <a:tblPr/>
              <a:tblGrid>
                <a:gridCol w="1951635"/>
                <a:gridCol w="3099727"/>
                <a:gridCol w="3214476"/>
                <a:gridCol w="3214675"/>
              </a:tblGrid>
              <a:tr h="379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SQL Server en Azure VMs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Azure SQL Managed Instance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Azure SQL Database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D6"/>
                    </a:solidFill>
                  </a:tcPr>
                </a:tc>
              </a:tr>
              <a:tr h="3797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Tipo de servicio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IaaS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PaaS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PaaS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97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Compatibilidad con SQL Server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Totalmente compatible; migración lift-and-shift sin cambios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Casi completa; migración con cambios mínimos de código mediante Azure Database Migration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Admite la mayoría de las funciones básicas; algunas características locales pueden no estar disponibles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7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Arquitectura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Instancias en una VM, cada una con varias bases de datos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Varias bases de datos por instancia; grupos de instancias para compartir recursos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Base de datos única o grupo elástico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7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Disponibilidad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99,99 %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99,99 %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99,995 %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7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Administración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Debe administrar todo: SO, SQL Server, configuración y copias de seguridad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Actualizaciones, copias de seguridad y recuperación automatizadas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Actualizaciones, copias de seguridad y recuperación automatizadas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0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Casos de uso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Migrar o ampliar SQL Server local con control total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La mayoría de migraciones a la nube con cambios mínimos en aplicaciones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2C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-120"/>
                        </a:rPr>
                        <a:t>Nuevas soluciones en la nube o aplicaciones con pocas dependencias de instancia</a:t>
                      </a:r>
                      <a:endParaRPr lang="en-US" sz="14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SQL Server en Azure VMs da control total a cambio de administrarlo todo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694021"/>
            <a:ext cx="1173450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Replica la base de datos local; migrar es como pasar de un servidor local a otro.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189" y="3012051"/>
            <a:ext cx="541006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Control total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189" y="3517900"/>
            <a:ext cx="5410065" cy="1942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Desarrollo y pruebas, lift-and-shift e implementaciones híbridas.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Más memoria, CPU y disco sin reinstalar al escalar verticalmente la VM.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24442" y="3012051"/>
            <a:ext cx="541006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Administración local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24442" y="3523615"/>
            <a:ext cx="541006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No elimina la necesidad de administrar el DBMS como en local.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089498" y="3005534"/>
            <a:ext cx="12700" cy="2455168"/>
          </a:xfrm>
          <a:prstGeom prst="rect">
            <a:avLst/>
          </a:prstGeom>
          <a:solidFill>
            <a:srgbClr val="1E3A2C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Azure SQL Managed Instance: casi todo SQL Server local, con menos administración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694021"/>
            <a:ext cx="1173450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Compatibilidad casi completa con SQL Server Enterprise Edition local.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189" y="2268637"/>
            <a:ext cx="5410065" cy="1800027"/>
          </a:xfrm>
          <a:prstGeom prst="roundRect">
            <a:avLst>
              <a:gd name="adj" fmla="val 635"/>
            </a:avLst>
          </a:prstGeom>
          <a:noFill/>
          <a:ln w="38099">
            <a:solidFill>
              <a:srgbClr val="D3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882" y="2541854"/>
            <a:ext cx="4876678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Automatiza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23882" y="3053417"/>
            <a:ext cx="4876678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Copias de seguridad, revisiones y supervisión.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324442" y="2268637"/>
            <a:ext cx="5410065" cy="1800027"/>
          </a:xfrm>
          <a:prstGeom prst="roundRect">
            <a:avLst>
              <a:gd name="adj" fmla="val 635"/>
            </a:avLst>
          </a:prstGeom>
          <a:noFill/>
          <a:ln w="38099">
            <a:solidFill>
              <a:srgbClr val="D3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1135" y="2541854"/>
            <a:ext cx="4876678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Conserva el control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91135" y="3053417"/>
            <a:ext cx="4876678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La seguridad y los recursos siguen siendo suyos.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189" y="4271863"/>
            <a:ext cx="11277318" cy="12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Inicios de sesión de SQL Server y Microsoft Entra ID.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Comunicaciones cifradas y firmadas con certificados.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Data Migration Assistant detecta bloqueos de migración.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Azure SQL Database: base de datos única, grupo elástico e Hiperescala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2270522"/>
            <a:ext cx="3454314" cy="3810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2543739"/>
            <a:ext cx="2997125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Base de datos única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783" y="3405743"/>
            <a:ext cx="2997125" cy="188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Escalable, con recursos preasignados o configuración sin servidor.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368691" y="2270522"/>
            <a:ext cx="3454314" cy="3810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7" name="Text 5"/>
          <p:cNvSpPr/>
          <p:nvPr/>
        </p:nvSpPr>
        <p:spPr>
          <a:xfrm>
            <a:off x="4597285" y="2543739"/>
            <a:ext cx="299712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Grupo elástico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97285" y="3055303"/>
            <a:ext cx="2997125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Varias bases comparten recursos cuando su demanda varía con el tiempo.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80193" y="2270522"/>
            <a:ext cx="3454314" cy="3810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10" name="Text 8"/>
          <p:cNvSpPr/>
          <p:nvPr/>
        </p:nvSpPr>
        <p:spPr>
          <a:xfrm>
            <a:off x="8508787" y="2543739"/>
            <a:ext cx="299712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Hiperescala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08787" y="3063875"/>
            <a:ext cx="2997125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72" kern="100" dirty="0">
                <a:solidFill>
                  <a:srgbClr val="1E3A2C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100 TB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508787" y="3861753"/>
            <a:ext cx="2997125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Bases de datos de hasta 100 TB, con escalado y restauración rápidos.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Azure SQL Database ofrece el menor coste con administración mínima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688306"/>
            <a:ext cx="4328012" cy="4712494"/>
          </a:xfrm>
          <a:prstGeom prst="rect">
            <a:avLst/>
          </a:prstGeom>
          <a:solidFill>
            <a:srgbClr val="E1E7D6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3292773"/>
            <a:ext cx="387082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96" kern="100" dirty="0">
                <a:solidFill>
                  <a:srgbClr val="1E3A2C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99,995 %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783" y="4090650"/>
            <a:ext cx="387082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Disponibilidad de al menos 99,995 %.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42290" y="1916906"/>
            <a:ext cx="6492216" cy="3188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Actualiza y revisa SQL Server automáticamente.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Restauración a un momento dado y replicación entre regiones.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Advanced Threat Protection, auditoría y cifrado en reposo y en movimiento.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Oferta gratuita para nuevas bases de datos e IA para optimizar consultas.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MySQL y PostgreSQL también tienen servicios en Azure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191181"/>
            <a:ext cx="1173450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Migración rápida de aplicaciones locales sin cambios significativos.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189" y="3093145"/>
            <a:ext cx="5410065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MySQL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189" y="3689410"/>
            <a:ext cx="541006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Líder de código abierto para aplicaciones LAMP.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189" y="4575115"/>
            <a:ext cx="563865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Ediciones Community, Estándar y Enterprise.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24442" y="3093145"/>
            <a:ext cx="5410065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PostgreSQL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324442" y="3689410"/>
            <a:ext cx="5410065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Híbrida objeto-relacional y extensible.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24442" y="4197985"/>
            <a:ext cx="541006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Tipos personalizados y datos geométricos; su lenguaje es pgsql.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9498" y="3083620"/>
            <a:ext cx="12700" cy="1796256"/>
          </a:xfrm>
          <a:prstGeom prst="rect">
            <a:avLst/>
          </a:prstGeom>
          <a:solidFill>
            <a:srgbClr val="1E3A2C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Azure Database for MySQL es un PaaS basado en la edición Community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688306"/>
            <a:ext cx="5486263" cy="1586706"/>
          </a:xfrm>
          <a:prstGeom prst="rect">
            <a:avLst/>
          </a:prstGeom>
          <a:solidFill>
            <a:srgbClr val="E1E7D6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1923423"/>
            <a:ext cx="502907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Disponibilidad y escala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783" y="2433082"/>
            <a:ext cx="50290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Alta disponibilidad sin coste adicional, escalado a demanda y pago por uso.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48244" y="1688306"/>
            <a:ext cx="5486263" cy="1586706"/>
          </a:xfrm>
          <a:prstGeom prst="rect">
            <a:avLst/>
          </a:prstGeom>
          <a:solidFill>
            <a:srgbClr val="E1E7D6"/>
          </a:solidFill>
          <a:ln/>
        </p:spPr>
      </p:sp>
      <p:sp>
        <p:nvSpPr>
          <p:cNvPr id="7" name="Text 5"/>
          <p:cNvSpPr/>
          <p:nvPr/>
        </p:nvSpPr>
        <p:spPr>
          <a:xfrm>
            <a:off x="6476838" y="1923423"/>
            <a:ext cx="502907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Copias automáticas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76838" y="2433082"/>
            <a:ext cx="50290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Restauración a un momento dado hasta 35 días; siete por defecto.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189" y="3579813"/>
            <a:ext cx="5486263" cy="1895277"/>
          </a:xfrm>
          <a:prstGeom prst="rect">
            <a:avLst/>
          </a:prstGeom>
          <a:solidFill>
            <a:srgbClr val="E1E7D6"/>
          </a:solidFill>
          <a:ln/>
        </p:spPr>
      </p:sp>
      <p:sp>
        <p:nvSpPr>
          <p:cNvPr id="10" name="Text 8"/>
          <p:cNvSpPr/>
          <p:nvPr/>
        </p:nvSpPr>
        <p:spPr>
          <a:xfrm>
            <a:off x="685783" y="3814930"/>
            <a:ext cx="502907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Seguridad y supervisión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783" y="4324588"/>
            <a:ext cx="50290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Firewall, conexiones SSL opcionales, alertas, métricas y registros.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48244" y="3579813"/>
            <a:ext cx="5486263" cy="1895277"/>
          </a:xfrm>
          <a:prstGeom prst="rect">
            <a:avLst/>
          </a:prstGeom>
          <a:solidFill>
            <a:srgbClr val="E1E7D6"/>
          </a:solidFill>
          <a:ln/>
        </p:spPr>
      </p:sp>
      <p:sp>
        <p:nvSpPr>
          <p:cNvPr id="13" name="Text 11"/>
          <p:cNvSpPr/>
          <p:nvPr/>
        </p:nvSpPr>
        <p:spPr>
          <a:xfrm>
            <a:off x="6476838" y="3814930"/>
            <a:ext cx="502907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Servidor flexible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76838" y="4324588"/>
            <a:ext cx="5029074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Más control y optimización de costes. Recomendado para nuevas cargas; gratis 12 meses con cuenta gratuita.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9108"/>
            <a:ext cx="11277318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Azure Database for PostgreSQL aporta las mismas ventajas de PaaS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692116"/>
            <a:ext cx="1127731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Alta disponibilidad con conmutación por error y detección de errores.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2724785"/>
            <a:ext cx="1127731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Algunas extensiones locales no están disponibles; se admite un conjunto básico de las más usadas.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189" y="3757454"/>
            <a:ext cx="1127731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pgAdmin permite conectarse, pero no realizar copias de seguridad ni restauraciones del servidor.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189" y="4790123"/>
            <a:ext cx="11277318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Registra consultas en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highlight>
                  <a:srgbClr val="E1E7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azure_sys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; se consultan con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highlight>
                  <a:srgbClr val="E1E7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query_store.qs_view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189" y="5829141"/>
            <a:ext cx="1127731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Servidor flexible gratis 12 meses con cuenta gratuita de Azure.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189" y="2486025"/>
            <a:ext cx="11277318" cy="12700"/>
          </a:xfrm>
          <a:prstGeom prst="rect">
            <a:avLst/>
          </a:prstGeom>
          <a:solidFill>
            <a:srgbClr val="1E3A2C"/>
          </a:solidFill>
          <a:ln/>
        </p:spPr>
      </p:sp>
      <p:sp>
        <p:nvSpPr>
          <p:cNvPr id="9" name="Shape 7"/>
          <p:cNvSpPr/>
          <p:nvPr/>
        </p:nvSpPr>
        <p:spPr>
          <a:xfrm>
            <a:off x="457189" y="3518694"/>
            <a:ext cx="11277318" cy="12700"/>
          </a:xfrm>
          <a:prstGeom prst="rect">
            <a:avLst/>
          </a:prstGeom>
          <a:solidFill>
            <a:srgbClr val="1E3A2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189" y="4551363"/>
            <a:ext cx="11277318" cy="12700"/>
          </a:xfrm>
          <a:prstGeom prst="rect">
            <a:avLst/>
          </a:prstGeom>
          <a:solidFill>
            <a:srgbClr val="1E3A2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189" y="5590381"/>
            <a:ext cx="11277318" cy="12700"/>
          </a:xfrm>
          <a:prstGeom prst="rect">
            <a:avLst/>
          </a:prstGeom>
          <a:solidFill>
            <a:srgbClr val="1E3A2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2026-10-17T17:29:20Z</dcterms:created>
  <dcterms:modified xsi:type="dcterms:W3CDTF">2026-10-17T17:29:20Z</dcterms:modified>
</cp:coreProperties>
</file>